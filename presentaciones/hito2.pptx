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Reglas</c:v>
                </c:pt>
              </c:strCache>
            </c:strRef>
          </c:tx>
          <c:spPr>
            <a:solidFill>
              <a:srgbClr val="EDA100"/>
            </a:solidFill>
            <a:ln w="19050">
              <a:solidFill>
                <a:srgbClr val="FFFFFF"/>
              </a:solidFill>
            </a:ln>
          </c:spPr>
          <c:cat>
            <c:strRef>
              <c:f>Sheet1!$A$2:$A$8</c:f>
              <c:strCache>
                <c:ptCount val="7"/>
                <c:pt idx="0">
                  <c:v>Coma
decimal</c:v>
                </c:pt>
                <c:pt idx="1">
                  <c:v>Fecha de
Excel</c:v>
                </c:pt>
                <c:pt idx="2">
                  <c:v>Signo
invertido</c:v>
                </c:pt>
                <c:pt idx="3">
                  <c:v>Columna
cambiada</c:v>
                </c:pt>
                <c:pt idx="4">
                  <c:v>Desviación
10 %</c:v>
                </c:pt>
                <c:pt idx="5">
                  <c:v>Valor sin
actualizar</c:v>
                </c:pt>
                <c:pt idx="6">
                  <c:v>Total</c:v>
                </c:pt>
              </c:strCache>
            </c:strRef>
          </c:cat>
          <c:val>
            <c:numRef>
              <c:f>Sheet1!$B$2:$B$8</c:f>
              <c:numCache>
                <c:formatCode>General</c:formatCode>
                <c:ptCount val="7"/>
                <c:pt idx="0">
                  <c:v>100</c:v>
                </c:pt>
                <c:pt idx="1">
                  <c:v>100</c:v>
                </c:pt>
                <c:pt idx="2">
                  <c:v>92</c:v>
                </c:pt>
                <c:pt idx="3">
                  <c:v>26</c:v>
                </c:pt>
                <c:pt idx="4">
                  <c:v>54</c:v>
                </c:pt>
                <c:pt idx="5">
                  <c:v>37</c:v>
                </c:pt>
                <c:pt idx="6">
                  <c:v>73</c:v>
                </c:pt>
              </c:numCache>
            </c:numRef>
          </c:val>
        </c:ser>
        <c:ser>
          <c:idx val="1"/>
          <c:order val="1"/>
          <c:tx>
            <c:strRef>
              <c:f>Sheet1!$C$1</c:f>
              <c:strCache>
                <c:ptCount val="1"/>
                <c:pt idx="0">
                  <c:v>Cartas I-MR</c:v>
                </c:pt>
              </c:strCache>
            </c:strRef>
          </c:tx>
          <c:spPr>
            <a:solidFill>
              <a:srgbClr val="2A78D6"/>
            </a:solidFill>
            <a:ln w="19050">
              <a:solidFill>
                <a:srgbClr val="FFFFFF"/>
              </a:solidFill>
            </a:ln>
          </c:spPr>
          <c:cat>
            <c:strRef>
              <c:f>Sheet1!$A$2:$A$8</c:f>
              <c:strCache>
                <c:ptCount val="7"/>
                <c:pt idx="0">
                  <c:v>Coma
decimal</c:v>
                </c:pt>
                <c:pt idx="1">
                  <c:v>Fecha de
Excel</c:v>
                </c:pt>
                <c:pt idx="2">
                  <c:v>Signo
invertido</c:v>
                </c:pt>
                <c:pt idx="3">
                  <c:v>Columna
cambiada</c:v>
                </c:pt>
                <c:pt idx="4">
                  <c:v>Desviación
10 %</c:v>
                </c:pt>
                <c:pt idx="5">
                  <c:v>Valor sin
actualizar</c:v>
                </c:pt>
                <c:pt idx="6">
                  <c:v>Total</c:v>
                </c:pt>
              </c:strCache>
            </c:strRef>
          </c:cat>
          <c:val>
            <c:numRef>
              <c:f>Sheet1!$C$2:$C$8</c:f>
              <c:numCache>
                <c:formatCode>General</c:formatCode>
                <c:ptCount val="7"/>
                <c:pt idx="0">
                  <c:v>100</c:v>
                </c:pt>
                <c:pt idx="1">
                  <c:v>100</c:v>
                </c:pt>
                <c:pt idx="2">
                  <c:v>97</c:v>
                </c:pt>
                <c:pt idx="3">
                  <c:v>78</c:v>
                </c:pt>
                <c:pt idx="4">
                  <c:v>80</c:v>
                </c:pt>
                <c:pt idx="5">
                  <c:v>16</c:v>
                </c:pt>
                <c:pt idx="6">
                  <c:v>80</c:v>
                </c:pt>
              </c:numCache>
            </c:numRef>
          </c:val>
        </c:ser>
        <c:ser>
          <c:idx val="2"/>
          <c:order val="2"/>
          <c:tx>
            <c:strRef>
              <c:f>Sheet1!$D$1</c:f>
              <c:strCache>
                <c:ptCount val="1"/>
                <c:pt idx="0">
                  <c:v>Isolation Forest</c:v>
                </c:pt>
              </c:strCache>
            </c:strRef>
          </c:tx>
          <c:spPr>
            <a:solidFill>
              <a:srgbClr val="1BAF7A"/>
            </a:solidFill>
            <a:ln w="19050">
              <a:solidFill>
                <a:srgbClr val="FFFFFF"/>
              </a:solidFill>
            </a:ln>
          </c:spPr>
          <c:cat>
            <c:strRef>
              <c:f>Sheet1!$A$2:$A$8</c:f>
              <c:strCache>
                <c:ptCount val="7"/>
                <c:pt idx="0">
                  <c:v>Coma
decimal</c:v>
                </c:pt>
                <c:pt idx="1">
                  <c:v>Fecha de
Excel</c:v>
                </c:pt>
                <c:pt idx="2">
                  <c:v>Signo
invertido</c:v>
                </c:pt>
                <c:pt idx="3">
                  <c:v>Columna
cambiada</c:v>
                </c:pt>
                <c:pt idx="4">
                  <c:v>Desviación
10 %</c:v>
                </c:pt>
                <c:pt idx="5">
                  <c:v>Valor sin
actualizar</c:v>
                </c:pt>
                <c:pt idx="6">
                  <c:v>Total</c:v>
                </c:pt>
              </c:strCache>
            </c:strRef>
          </c:cat>
          <c:val>
            <c:numRef>
              <c:f>Sheet1!$D$2:$D$8</c:f>
              <c:numCache>
                <c:formatCode>General</c:formatCode>
                <c:ptCount val="7"/>
                <c:pt idx="0">
                  <c:v>100</c:v>
                </c:pt>
                <c:pt idx="1">
                  <c:v>100</c:v>
                </c:pt>
                <c:pt idx="2">
                  <c:v>100</c:v>
                </c:pt>
                <c:pt idx="3">
                  <c:v>56</c:v>
                </c:pt>
                <c:pt idx="4">
                  <c:v>84</c:v>
                </c:pt>
                <c:pt idx="5">
                  <c:v>22</c:v>
                </c:pt>
                <c:pt idx="6">
                  <c:v>80</c:v>
                </c:pt>
              </c:numCache>
            </c:numRef>
          </c:val>
        </c:ser>
        <c:ser>
          <c:idx val="3"/>
          <c:order val="3"/>
          <c:tx>
            <c:strRef>
              <c:f>Sheet1!$E$1</c:f>
              <c:strCache>
                <c:ptCount val="1"/>
                <c:pt idx="0">
                  <c:v>Reglas + cartas</c:v>
                </c:pt>
              </c:strCache>
            </c:strRef>
          </c:tx>
          <c:spPr>
            <a:solidFill>
              <a:srgbClr val="6250D6"/>
            </a:solidFill>
            <a:ln w="19050">
              <a:solidFill>
                <a:srgbClr val="FFFFFF"/>
              </a:solidFill>
            </a:ln>
          </c:spPr>
          <c:cat>
            <c:strRef>
              <c:f>Sheet1!$A$2:$A$8</c:f>
              <c:strCache>
                <c:ptCount val="7"/>
                <c:pt idx="0">
                  <c:v>Coma
decimal</c:v>
                </c:pt>
                <c:pt idx="1">
                  <c:v>Fecha de
Excel</c:v>
                </c:pt>
                <c:pt idx="2">
                  <c:v>Signo
invertido</c:v>
                </c:pt>
                <c:pt idx="3">
                  <c:v>Columna
cambiada</c:v>
                </c:pt>
                <c:pt idx="4">
                  <c:v>Desviación
10 %</c:v>
                </c:pt>
                <c:pt idx="5">
                  <c:v>Valor sin
actualizar</c:v>
                </c:pt>
                <c:pt idx="6">
                  <c:v>Total</c:v>
                </c:pt>
              </c:strCache>
            </c:strRef>
          </c:cat>
          <c:val>
            <c:numRef>
              <c:f>Sheet1!$E$2:$E$8</c:f>
              <c:numCache>
                <c:formatCode>General</c:formatCode>
                <c:ptCount val="7"/>
                <c:pt idx="0">
                  <c:v>100</c:v>
                </c:pt>
                <c:pt idx="1">
                  <c:v>100</c:v>
                </c:pt>
                <c:pt idx="2">
                  <c:v>98</c:v>
                </c:pt>
                <c:pt idx="3">
                  <c:v>78</c:v>
                </c:pt>
                <c:pt idx="4">
                  <c:v>93</c:v>
                </c:pt>
                <c:pt idx="5">
                  <c:v>48</c:v>
                </c:pt>
                <c:pt idx="6">
                  <c:v>88</c:v>
                </c:pt>
              </c:numCache>
            </c:numRef>
          </c:val>
        </c:ser>
        <c:dLbls>
          <c:numFmt formatCode="0" sourceLinked="0"/>
          <c:txPr>
            <a:bodyPr/>
            <a:lstStyle/>
            <a:p>
              <a:pPr>
                <a:defRPr sz="1000">
                  <a:solidFill>
                    <a:srgbClr val="1F2937"/>
                  </a:solidFill>
                </a:defRPr>
              </a:pPr>
            </a:p>
          </c:txPr>
          <c:dLblPos val="outEnd"/>
          <c:showLegendKey val="0"/>
          <c:showVal val="1"/>
          <c:showCatName val="0"/>
          <c:showSerName val="0"/>
          <c:showPercent val="0"/>
          <c:showBubbleSize val="0"/>
          <c:showLeaderLines val="1"/>
        </c:dLbls>
        <c:gapWidth val="70"/>
        <c:axId val="-2068027336"/>
        <c:axId val="-2113994440"/>
      </c:barChart>
      <c:catAx>
        <c:axId val="-2068027336"/>
        <c:scaling>
          <c:orientation val="minMax"/>
        </c:scaling>
        <c:delete val="0"/>
        <c:axPos val="b"/>
        <c:majorTickMark val="out"/>
        <c:minorTickMark val="none"/>
        <c:tickLblPos val="nextTo"/>
        <c:spPr>
          <a:ln>
            <a:solidFill>
              <a:srgbClr val="CBD2DA"/>
            </a:solidFill>
          </a:ln>
        </c:spPr>
        <c:txPr>
          <a:bodyPr/>
          <a:lstStyle/>
          <a:p>
            <a:pPr>
              <a:defRPr sz="1200">
                <a:solidFill>
                  <a:srgbClr val="1F2937"/>
                </a:solidFill>
              </a:defRPr>
            </a:pPr>
          </a:p>
        </c:txPr>
        <c:crossAx val="-2113994440"/>
        <c:crosses val="autoZero"/>
        <c:auto val="1"/>
        <c:lblAlgn val="ctr"/>
        <c:lblOffset val="100"/>
        <c:noMultiLvlLbl val="0"/>
      </c:catAx>
      <c:valAx>
        <c:axId val="-2113994440"/>
        <c:scaling>
          <c:max val="110.0"/>
          <c:min val="0.0"/>
        </c:scaling>
        <c:delete val="0"/>
        <c:axPos val="l"/>
        <c:majorGridlines>
          <c:spPr>
            <a:ln w="9525">
              <a:solidFill>
                <a:srgbClr val="EEF1F4"/>
              </a:solidFill>
            </a:ln>
          </c:spPr>
        </c:majorGridlines>
        <c:majorTickMark val="out"/>
        <c:minorTickMark val="none"/>
        <c:tickLblPos val="nextTo"/>
        <c:spPr>
          <a:ln>
            <a:noFill/>
          </a:ln>
        </c:spPr>
        <c:txPr>
          <a:bodyPr/>
          <a:lstStyle/>
          <a:p>
            <a:pPr>
              <a:defRPr sz="1100"/>
            </a:pPr>
          </a:p>
        </c:txPr>
        <c:crossAx val="-2068027336"/>
        <c:crosses val="autoZero"/>
      </c:valAx>
    </c:plotArea>
    <c:legend>
      <c:legendPos val="t"/>
      <c:overlay val="0"/>
      <c:txPr>
        <a:bodyPr/>
        <a:lstStyle/>
        <a:p>
          <a:pPr>
            <a:defRPr sz="1300">
              <a:solidFill>
                <a:srgbClr val="1F2937"/>
              </a:solidFill>
            </a:defRPr>
          </a:pPr>
        </a:p>
      </c:txPr>
    </c:legend>
    <c:dispBlanksAs val="gap"/>
  </c:chart>
  <c:txPr>
    <a:bodyPr/>
    <a:lstStyle/>
    <a:p>
      <a:pPr>
        <a:defRPr sz="1200">
          <a:solidFill>
            <a:srgbClr val="6B7280"/>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Alertas</c:v>
                </c:pt>
              </c:strCache>
            </c:strRef>
          </c:tx>
          <c:spPr>
            <a:solidFill>
              <a:srgbClr val="B7D0F0"/>
            </a:solidFill>
          </c:spPr>
          <c:dPt>
            <c:idx val="1"/>
            <c:spPr>
              <a:solidFill>
                <a:srgbClr val="2A78D6"/>
              </a:solidFill>
            </c:spPr>
          </c:dPt>
          <c:cat>
            <c:strRef>
              <c:f>Sheet1!$A$2:$A$25</c:f>
              <c:strCache>
                <c:ptCount val="24"/>
                <c:pt idx="0">
                  <c:v>ene
'20</c:v>
                </c:pt>
                <c:pt idx="1">
                  <c:v>feb</c:v>
                </c:pt>
                <c:pt idx="2">
                  <c:v>mar</c:v>
                </c:pt>
                <c:pt idx="3">
                  <c:v>abr</c:v>
                </c:pt>
                <c:pt idx="4">
                  <c:v>may</c:v>
                </c:pt>
                <c:pt idx="5">
                  <c:v>jun</c:v>
                </c:pt>
                <c:pt idx="6">
                  <c:v>jul</c:v>
                </c:pt>
                <c:pt idx="7">
                  <c:v>ago</c:v>
                </c:pt>
                <c:pt idx="8">
                  <c:v>sep</c:v>
                </c:pt>
                <c:pt idx="9">
                  <c:v>oct</c:v>
                </c:pt>
                <c:pt idx="10">
                  <c:v>nov</c:v>
                </c:pt>
                <c:pt idx="11">
                  <c:v>dic</c:v>
                </c:pt>
                <c:pt idx="12">
                  <c:v>ene
'21</c:v>
                </c:pt>
                <c:pt idx="13">
                  <c:v>feb</c:v>
                </c:pt>
                <c:pt idx="14">
                  <c:v>mar</c:v>
                </c:pt>
                <c:pt idx="15">
                  <c:v>abr</c:v>
                </c:pt>
                <c:pt idx="16">
                  <c:v>may</c:v>
                </c:pt>
                <c:pt idx="17">
                  <c:v>jun</c:v>
                </c:pt>
                <c:pt idx="18">
                  <c:v>jul</c:v>
                </c:pt>
                <c:pt idx="19">
                  <c:v>ago</c:v>
                </c:pt>
                <c:pt idx="20">
                  <c:v>sep</c:v>
                </c:pt>
                <c:pt idx="21">
                  <c:v>oct</c:v>
                </c:pt>
                <c:pt idx="22">
                  <c:v>nov</c:v>
                </c:pt>
                <c:pt idx="23">
                  <c:v>dic</c:v>
                </c:pt>
              </c:strCache>
            </c:strRef>
          </c:cat>
          <c:val>
            <c:numRef>
              <c:f>Sheet1!$B$2:$B$25</c:f>
              <c:numCache>
                <c:formatCode>General</c:formatCode>
                <c:ptCount val="24"/>
                <c:pt idx="0">
                  <c:v>1</c:v>
                </c:pt>
                <c:pt idx="1">
                  <c:v>51</c:v>
                </c:pt>
                <c:pt idx="2">
                  <c:v>17</c:v>
                </c:pt>
                <c:pt idx="3">
                  <c:v>20</c:v>
                </c:pt>
                <c:pt idx="4">
                  <c:v>13</c:v>
                </c:pt>
                <c:pt idx="5">
                  <c:v>12</c:v>
                </c:pt>
                <c:pt idx="6">
                  <c:v>24</c:v>
                </c:pt>
                <c:pt idx="7">
                  <c:v>17</c:v>
                </c:pt>
                <c:pt idx="8">
                  <c:v>0</c:v>
                </c:pt>
                <c:pt idx="9">
                  <c:v>0</c:v>
                </c:pt>
                <c:pt idx="10">
                  <c:v>0</c:v>
                </c:pt>
                <c:pt idx="11">
                  <c:v>6</c:v>
                </c:pt>
                <c:pt idx="12">
                  <c:v>11</c:v>
                </c:pt>
                <c:pt idx="13">
                  <c:v>6</c:v>
                </c:pt>
                <c:pt idx="14">
                  <c:v>0</c:v>
                </c:pt>
                <c:pt idx="15">
                  <c:v>0</c:v>
                </c:pt>
                <c:pt idx="16">
                  <c:v>0</c:v>
                </c:pt>
                <c:pt idx="17">
                  <c:v>12</c:v>
                </c:pt>
                <c:pt idx="18">
                  <c:v>18</c:v>
                </c:pt>
                <c:pt idx="19">
                  <c:v>0</c:v>
                </c:pt>
                <c:pt idx="20">
                  <c:v>5</c:v>
                </c:pt>
                <c:pt idx="21">
                  <c:v>5</c:v>
                </c:pt>
                <c:pt idx="22">
                  <c:v>5</c:v>
                </c:pt>
                <c:pt idx="23">
                  <c:v>11</c:v>
                </c:pt>
              </c:numCache>
            </c:numRef>
          </c:val>
        </c:ser>
        <c:dLbls>
          <c:txPr>
            <a:bodyPr/>
            <a:lstStyle/>
            <a:p>
              <a:pPr>
                <a:defRPr sz="1000">
                  <a:solidFill>
                    <a:srgbClr val="6B7280"/>
                  </a:solidFil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b"/>
        <c:majorTickMark val="out"/>
        <c:minorTickMark val="none"/>
        <c:tickLblPos val="nextTo"/>
        <c:spPr>
          <a:ln>
            <a:solidFill>
              <a:srgbClr val="CBD2DA"/>
            </a:solidFill>
          </a:ln>
        </c:spPr>
        <c:txPr>
          <a:bodyPr/>
          <a:lstStyle/>
          <a:p>
            <a:pPr>
              <a:defRPr sz="1000">
                <a:solidFill>
                  <a:srgbClr val="1F2937"/>
                </a:solidFill>
              </a:defRPr>
            </a:pPr>
          </a:p>
        </c:txPr>
        <c:crossAx val="-2113994440"/>
        <c:crosses val="autoZero"/>
        <c:auto val="1"/>
        <c:lblAlgn val="ctr"/>
        <c:lblOffset val="100"/>
        <c:noMultiLvlLbl val="0"/>
      </c:catAx>
      <c:valAx>
        <c:axId val="-2113994440"/>
        <c:scaling/>
        <c:delete val="0"/>
        <c:axPos val="l"/>
        <c:majorGridlines>
          <c:spPr>
            <a:ln w="9525">
              <a:solidFill>
                <a:srgbClr val="EEF1F4"/>
              </a:solidFill>
            </a:ln>
          </c:spPr>
        </c:majorGridlines>
        <c:majorTickMark val="out"/>
        <c:minorTickMark val="none"/>
        <c:tickLblPos val="nextTo"/>
        <c:spPr>
          <a:ln>
            <a:noFill/>
          </a:ln>
        </c:spPr>
        <c:txPr>
          <a:bodyPr/>
          <a:lstStyle/>
          <a:p>
            <a:pPr>
              <a:defRPr sz="1100"/>
            </a:pPr>
          </a:p>
        </c:txPr>
        <c:crossAx val="-2068027336"/>
        <c:crosses val="autoZero"/>
      </c:valAx>
    </c:plotArea>
    <c:dispBlanksAs val="gap"/>
  </c:chart>
  <c:txPr>
    <a:bodyPr/>
    <a:lstStyle/>
    <a:p>
      <a:pPr>
        <a:defRPr sz="1200">
          <a:solidFill>
            <a:srgbClr val="6B7280"/>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Buenas noches. Hoy presentamos el Hito 2. Empezamos respondiendo su observación sobre el vacío metodológico y después mostramos el pipeline, los errores que encontramos y cómo comparamos los modelos.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Revisamos cuatro enfoques y a cada uno le falta algo. El modelo de MinTIC revisa que el dato tenga el formato correcto, pero no si el valor tiene sentido. Deequ vigila promedios del conjunto, no cada valor. Los autores que propusieron cartas de control para calidad de datos dicen que faltan métodos. Y el machine learning en energía busca fraude de clientes, no errores en el dato publicado. Nadie compara estos enfoques con errores conocidos.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tres números pasan cualquier revisión de formato, porque son números válidos. Pero 43.577 es una fecha de Excel, 205.151 es mil veces más grande que sus vecinos, y 445 filas escriben la misma categoría de formas distintas. Por eso no basta con revisar el formato.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 el vacío claro, formulamos una pregunta que se puede medir. Para responderla usamos tres criterios: cuántos errores detecta cada método, cuántas alertas da sin que haya error, y si cada alerta nos lleva a la fila original.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flujo completo. Cargamos el archivo, lo describimos, unificamos las etiquetas, aplicamos doce reglas, armamos las series mensuales, aplicamos los dos modelos y al final los evaluamos. Los pasos en azul son nuevos en este hito. Todo corre con un solo comando y siempre da el mismo resultado.</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Pasamos de cuatro a doce reglas. Las del Hito 1 siguen: diez duplicados. Lo nuevo son las reglas de negocio. Por ejemplo, la tarifa con red de EPM nunca debería ser menor que la compartida; eso falló en dos filas. También buscamos números que en realidad son fechas de Excel y valores diez veces más grandes que lo normal. Los negativos están todos en Restricciones, que puede ser negativo, así que los dejamos solo como aviso.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Estos son los casos concretos, con su número de registro en el archivo. En el 2047 aparece 205.151 donde se esperaba alrededor de 205: se perdió la coma decimal. En el 3131 y el 3133 aparecen 43.577 y 43.501, que son las fechas 22 de abril y 5 de febrero guardadas por Excel. En el 2348 se mezclaron valores de meses distintos. Son hipótesis: falta confirmarlas con EPM.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serie se mueve cerca de 22 y en noviembre de 2019 salta a 43.577. El eje está en escala logarítmica para ver los dos valores en la misma gráfica. Creemos que alguien escribió 22.04, Excel lo leyó como 22 de abril y guardó el número interno de esa fecha.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mismo caso del 205.151. Si dejamos el error en el periodo de referencia, los límites de la carta se abren tanto que no detecta nada: cero alertas. Si primero lo apartamos con las reglas, la carta vuelve a funcionar. Por eso el orden del pipeline es: primero reglas, después cartas.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primer modelo son las cartas I-MR del Hito 1, ahora en 83 series. Usan 2017 a 2019 como referencia y vigilan 2020 y 2021. El segundo es Isolation Forest, un modelo de machine learning que no necesita ejemplos de errores: aprende cómo es un mes normal y marca lo raro. Lo entrenamos con todas las series juntas porque cada una es corta. Para que la comparación sea justa, los dos dan la misma cantidad de alertas.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corazón del código. La función de límites usa solo los meses de referencia. La función de alertas recorre los meses vigilados y marca los que se salen de los límites. El notebook completo está en hito2.ipynb.</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todavía no tenemos errores confirmados, hicimos una prueba controlada: metimos errores a propósito en copias de 77 series y medimos cuántos encuentra cada método. Usamos seis tipos de error; tres los copiamos de los casos reales que encontramos. En total fueron 8.282 pruebas.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errores grandes, como la coma decimal o la fecha de Excel, los encuentran todos. La diferencia está en los errores pequeños: las cartas encuentran mejor la columna equivocada y Isolation Forest un poco mejor la desviación de 10 %. El valor sin actualizar es difícil para todos. En total, cartas e Isolation Forest quedan empatados en 80 %. La mejor combinación es reglas más cartas: 88 %.</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Aquí contamos las alertas de las cartas por mes. En febrero de 2020 alertan 51 de las 83 series al mismo tiempo. Un error de digitación afecta una celda, no medio conjunto de datos. Eso parece un cambio de tarifas, no un error, y todavía lo debemos verificar con la CREG. Por eso hoy tenemos 11 % de alertas sin error conocido.</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Tenemos cuatro dificultades. La más importante: las cartas dan muchas alertas en 2020 porque ese año fue distinto a la referencia. Segunda: algunas categorías cambian de nombre con el tiempo y cortan las series. Tercera: un valor que no se actualizó es casi invisible para todos los métodos. Y cuarta: todavía no tenemos errores confirmados por EPM.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Para el Hito 3 vamos a hacer tres cosas. Primero, validar: confirmar los errores con EPM y documentar qué significa cada variable. Segundo, mejorar: reducir las falsas alarmas y probar el pipeline con los datos de Superservicios. Tercero, comparar: medir detección contra falsas alarmas con varios umbrales y probar otro modelo de machine learning.</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Diapositiva de respaldo. Úsala solo si el profesor pregunta por las fuentes.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 Id="rId4" Type="http://schemas.openxmlformats.org/officeDocument/2006/relationships/chart" Target="../charts/char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Hito 2: pipeline y modelo</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a:t>
            </a:r>
          </a:p>
        </p:txBody>
      </p:sp>
      <p:sp>
        <p:nvSpPr>
          <p:cNvPr id="6" name="TextBox 5"/>
          <p:cNvSpPr txBox="1"/>
          <p:nvPr/>
        </p:nvSpPr>
        <p:spPr>
          <a:xfrm>
            <a:off x="685800" y="1554480"/>
            <a:ext cx="10789920" cy="2011680"/>
          </a:xfrm>
          <a:prstGeom prst="rect">
            <a:avLst/>
          </a:prstGeom>
          <a:noFill/>
        </p:spPr>
        <p:txBody>
          <a:bodyPr wrap="square" lIns="36576" rIns="36576" tIns="18288" bIns="18288">
            <a:spAutoFit/>
          </a:bodyPr>
          <a:lstStyle/>
          <a:p>
            <a:pPr>
              <a:spcAft>
                <a:spcPts val="600"/>
              </a:spcAft>
            </a:pPr>
            <a:r>
              <a:rPr sz="3400" b="1">
                <a:solidFill>
                  <a:srgbClr val="084B76"/>
                </a:solidFill>
                <a:latin typeface="Aptos Serif"/>
              </a:rPr>
              <a:t>Framework automatizado para evaluar la calidad de datos en registros administrativos del sector energético en Colombia</a:t>
            </a:r>
          </a:p>
        </p:txBody>
      </p:sp>
      <p:sp>
        <p:nvSpPr>
          <p:cNvPr id="7" name="TextBox 6"/>
          <p:cNvSpPr txBox="1"/>
          <p:nvPr/>
        </p:nvSpPr>
        <p:spPr>
          <a:xfrm>
            <a:off x="731520" y="3840480"/>
            <a:ext cx="10607040" cy="548640"/>
          </a:xfrm>
          <a:prstGeom prst="rect">
            <a:avLst/>
          </a:prstGeom>
          <a:noFill/>
        </p:spPr>
        <p:txBody>
          <a:bodyPr wrap="square" lIns="36576" rIns="36576" tIns="18288" bIns="18288">
            <a:spAutoFit/>
          </a:bodyPr>
          <a:lstStyle/>
          <a:p>
            <a:pPr>
              <a:spcAft>
                <a:spcPts val="600"/>
              </a:spcAft>
            </a:pPr>
            <a:r>
              <a:rPr sz="2000" b="0">
                <a:solidFill>
                  <a:srgbClr val="6B7280"/>
                </a:solidFill>
                <a:latin typeface="Aptos"/>
              </a:rPr>
              <a:t>Reglas de calidad · Cartas de control · Machine learning</a:t>
            </a:r>
          </a:p>
        </p:txBody>
      </p:sp>
      <p:sp>
        <p:nvSpPr>
          <p:cNvPr id="8" name="TextBox 7"/>
          <p:cNvSpPr txBox="1"/>
          <p:nvPr/>
        </p:nvSpPr>
        <p:spPr>
          <a:xfrm>
            <a:off x="731520" y="4846320"/>
            <a:ext cx="10789920" cy="822960"/>
          </a:xfrm>
          <a:prstGeom prst="rect">
            <a:avLst/>
          </a:prstGeom>
          <a:noFill/>
        </p:spPr>
        <p:txBody>
          <a:bodyPr wrap="square" lIns="36576" rIns="36576" tIns="18288" bIns="18288">
            <a:spAutoFit/>
          </a:bodyPr>
          <a:lstStyle/>
          <a:p>
            <a:pPr>
              <a:spcAft>
                <a:spcPts val="400"/>
              </a:spcAft>
            </a:pPr>
            <a:r>
              <a:rPr sz="1600" b="0">
                <a:solidFill>
                  <a:srgbClr val="6B7280"/>
                </a:solidFill>
                <a:latin typeface="Aptos"/>
              </a:rPr>
              <a:t>Grupo 03</a:t>
            </a:r>
          </a:p>
          <a:p>
            <a:pPr>
              <a:spcAft>
                <a:spcPts val="400"/>
              </a:spcAft>
            </a:pPr>
            <a:r>
              <a:rPr sz="1600" b="0">
                <a:solidFill>
                  <a:srgbClr val="6B7280"/>
                </a:solidFill>
                <a:latin typeface="Aptos"/>
              </a:rPr>
              <a:t>Director del trabajo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Vacío metodológico</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2</a:t>
            </a:r>
          </a:p>
        </p:txBody>
      </p:sp>
      <p:sp>
        <p:nvSpPr>
          <p:cNvPr id="6" name="Rounded Rectangle 5"/>
          <p:cNvSpPr/>
          <p:nvPr/>
        </p:nvSpPr>
        <p:spPr>
          <a:xfrm>
            <a:off x="548640" y="1325880"/>
            <a:ext cx="2606040" cy="324612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08760"/>
            <a:ext cx="2286000" cy="365760"/>
          </a:xfrm>
          <a:prstGeom prst="rect">
            <a:avLst/>
          </a:prstGeom>
          <a:noFill/>
        </p:spPr>
        <p:txBody>
          <a:bodyPr wrap="square" lIns="36576" rIns="36576" tIns="18288" bIns="18288">
            <a:spAutoFit/>
          </a:bodyPr>
          <a:lstStyle/>
          <a:p>
            <a:pPr>
              <a:spcAft>
                <a:spcPts val="600"/>
              </a:spcAft>
            </a:pPr>
            <a:r>
              <a:rPr sz="1300" b="1">
                <a:solidFill>
                  <a:srgbClr val="6B7280"/>
                </a:solidFill>
                <a:latin typeface="Aptos"/>
              </a:rPr>
              <a:t>MinTIC, 2019</a:t>
            </a:r>
          </a:p>
        </p:txBody>
      </p:sp>
      <p:sp>
        <p:nvSpPr>
          <p:cNvPr id="8" name="TextBox 7"/>
          <p:cNvSpPr txBox="1"/>
          <p:nvPr/>
        </p:nvSpPr>
        <p:spPr>
          <a:xfrm>
            <a:off x="731520" y="1920240"/>
            <a:ext cx="2286000" cy="1005840"/>
          </a:xfrm>
          <a:prstGeom prst="rect">
            <a:avLst/>
          </a:prstGeom>
          <a:noFill/>
        </p:spPr>
        <p:txBody>
          <a:bodyPr wrap="square" lIns="36576" rIns="36576" tIns="18288" bIns="18288">
            <a:spAutoFit/>
          </a:bodyPr>
          <a:lstStyle/>
          <a:p>
            <a:pPr>
              <a:spcAft>
                <a:spcPts val="600"/>
              </a:spcAft>
            </a:pPr>
            <a:r>
              <a:rPr sz="1800" b="1">
                <a:solidFill>
                  <a:srgbClr val="1F2937"/>
                </a:solidFill>
                <a:latin typeface="Aptos"/>
              </a:rPr>
              <a:t>Modelo oficial de calidad de datos abiertos</a:t>
            </a:r>
          </a:p>
        </p:txBody>
      </p:sp>
      <p:sp>
        <p:nvSpPr>
          <p:cNvPr id="9" name="TextBox 8"/>
          <p:cNvSpPr txBox="1"/>
          <p:nvPr/>
        </p:nvSpPr>
        <p:spPr>
          <a:xfrm>
            <a:off x="731520" y="3154680"/>
            <a:ext cx="2286000" cy="1280160"/>
          </a:xfrm>
          <a:prstGeom prst="rect">
            <a:avLst/>
          </a:prstGeom>
          <a:noFill/>
        </p:spPr>
        <p:txBody>
          <a:bodyPr wrap="square" lIns="36576" rIns="36576" tIns="18288" bIns="18288">
            <a:spAutoFit/>
          </a:bodyPr>
          <a:lstStyle/>
          <a:p>
            <a:pPr>
              <a:spcAft>
                <a:spcPts val="600"/>
              </a:spcAft>
            </a:pPr>
            <a:r>
              <a:rPr sz="1700" b="0">
                <a:solidFill>
                  <a:srgbClr val="2A78D6"/>
                </a:solidFill>
                <a:latin typeface="Aptos"/>
              </a:rPr>
              <a:t>Revisa el formato, no si el valor tiene sentido</a:t>
            </a:r>
          </a:p>
        </p:txBody>
      </p:sp>
      <p:sp>
        <p:nvSpPr>
          <p:cNvPr id="10" name="Rounded Rectangle 9"/>
          <p:cNvSpPr/>
          <p:nvPr/>
        </p:nvSpPr>
        <p:spPr>
          <a:xfrm>
            <a:off x="3383280" y="1325880"/>
            <a:ext cx="2606040" cy="324612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66160" y="1508760"/>
            <a:ext cx="2286000" cy="365760"/>
          </a:xfrm>
          <a:prstGeom prst="rect">
            <a:avLst/>
          </a:prstGeom>
          <a:noFill/>
        </p:spPr>
        <p:txBody>
          <a:bodyPr wrap="square" lIns="36576" rIns="36576" tIns="18288" bIns="18288">
            <a:spAutoFit/>
          </a:bodyPr>
          <a:lstStyle/>
          <a:p>
            <a:pPr>
              <a:spcAft>
                <a:spcPts val="600"/>
              </a:spcAft>
            </a:pPr>
            <a:r>
              <a:rPr sz="1300" b="1">
                <a:solidFill>
                  <a:srgbClr val="6B7280"/>
                </a:solidFill>
                <a:latin typeface="Aptos"/>
              </a:rPr>
              <a:t>Deequ, 2018</a:t>
            </a:r>
          </a:p>
        </p:txBody>
      </p:sp>
      <p:sp>
        <p:nvSpPr>
          <p:cNvPr id="12" name="TextBox 11"/>
          <p:cNvSpPr txBox="1"/>
          <p:nvPr/>
        </p:nvSpPr>
        <p:spPr>
          <a:xfrm>
            <a:off x="3566160" y="1920240"/>
            <a:ext cx="2286000" cy="1005840"/>
          </a:xfrm>
          <a:prstGeom prst="rect">
            <a:avLst/>
          </a:prstGeom>
          <a:noFill/>
        </p:spPr>
        <p:txBody>
          <a:bodyPr wrap="square" lIns="36576" rIns="36576" tIns="18288" bIns="18288">
            <a:spAutoFit/>
          </a:bodyPr>
          <a:lstStyle/>
          <a:p>
            <a:pPr>
              <a:spcAft>
                <a:spcPts val="600"/>
              </a:spcAft>
            </a:pPr>
            <a:r>
              <a:rPr sz="1800" b="1">
                <a:solidFill>
                  <a:srgbClr val="1F2937"/>
                </a:solidFill>
                <a:latin typeface="Aptos"/>
              </a:rPr>
              <a:t>Validación automática con reglas</a:t>
            </a:r>
          </a:p>
        </p:txBody>
      </p:sp>
      <p:sp>
        <p:nvSpPr>
          <p:cNvPr id="13" name="TextBox 12"/>
          <p:cNvSpPr txBox="1"/>
          <p:nvPr/>
        </p:nvSpPr>
        <p:spPr>
          <a:xfrm>
            <a:off x="3566160" y="3154680"/>
            <a:ext cx="2286000" cy="1280160"/>
          </a:xfrm>
          <a:prstGeom prst="rect">
            <a:avLst/>
          </a:prstGeom>
          <a:noFill/>
        </p:spPr>
        <p:txBody>
          <a:bodyPr wrap="square" lIns="36576" rIns="36576" tIns="18288" bIns="18288">
            <a:spAutoFit/>
          </a:bodyPr>
          <a:lstStyle/>
          <a:p>
            <a:pPr>
              <a:spcAft>
                <a:spcPts val="600"/>
              </a:spcAft>
            </a:pPr>
            <a:r>
              <a:rPr sz="1700" b="0">
                <a:solidFill>
                  <a:srgbClr val="2A78D6"/>
                </a:solidFill>
                <a:latin typeface="Aptos"/>
              </a:rPr>
              <a:t>Vigila promedios, no cada valor en su serie</a:t>
            </a:r>
          </a:p>
        </p:txBody>
      </p:sp>
      <p:sp>
        <p:nvSpPr>
          <p:cNvPr id="14" name="Rounded Rectangle 13"/>
          <p:cNvSpPr/>
          <p:nvPr/>
        </p:nvSpPr>
        <p:spPr>
          <a:xfrm>
            <a:off x="6217920" y="1325880"/>
            <a:ext cx="2606040" cy="324612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2286000" cy="365760"/>
          </a:xfrm>
          <a:prstGeom prst="rect">
            <a:avLst/>
          </a:prstGeom>
          <a:noFill/>
        </p:spPr>
        <p:txBody>
          <a:bodyPr wrap="square" lIns="36576" rIns="36576" tIns="18288" bIns="18288">
            <a:spAutoFit/>
          </a:bodyPr>
          <a:lstStyle/>
          <a:p>
            <a:pPr>
              <a:spcAft>
                <a:spcPts val="600"/>
              </a:spcAft>
            </a:pPr>
            <a:r>
              <a:rPr sz="1300" b="1">
                <a:solidFill>
                  <a:srgbClr val="6B7280"/>
                </a:solidFill>
                <a:latin typeface="Aptos"/>
              </a:rPr>
              <a:t>Jones-Farmer et al., 2014</a:t>
            </a:r>
          </a:p>
        </p:txBody>
      </p:sp>
      <p:sp>
        <p:nvSpPr>
          <p:cNvPr id="16" name="TextBox 15"/>
          <p:cNvSpPr txBox="1"/>
          <p:nvPr/>
        </p:nvSpPr>
        <p:spPr>
          <a:xfrm>
            <a:off x="6400800" y="1920240"/>
            <a:ext cx="2286000" cy="1005840"/>
          </a:xfrm>
          <a:prstGeom prst="rect">
            <a:avLst/>
          </a:prstGeom>
          <a:noFill/>
        </p:spPr>
        <p:txBody>
          <a:bodyPr wrap="square" lIns="36576" rIns="36576" tIns="18288" bIns="18288">
            <a:spAutoFit/>
          </a:bodyPr>
          <a:lstStyle/>
          <a:p>
            <a:pPr>
              <a:spcAft>
                <a:spcPts val="600"/>
              </a:spcAft>
            </a:pPr>
            <a:r>
              <a:rPr sz="1800" b="1">
                <a:solidFill>
                  <a:srgbClr val="1F2937"/>
                </a:solidFill>
                <a:latin typeface="Aptos"/>
              </a:rPr>
              <a:t>Cartas de control para calidad de datos</a:t>
            </a:r>
          </a:p>
        </p:txBody>
      </p:sp>
      <p:sp>
        <p:nvSpPr>
          <p:cNvPr id="17" name="TextBox 16"/>
          <p:cNvSpPr txBox="1"/>
          <p:nvPr/>
        </p:nvSpPr>
        <p:spPr>
          <a:xfrm>
            <a:off x="6400800" y="3154680"/>
            <a:ext cx="2286000" cy="1280160"/>
          </a:xfrm>
          <a:prstGeom prst="rect">
            <a:avLst/>
          </a:prstGeom>
          <a:noFill/>
        </p:spPr>
        <p:txBody>
          <a:bodyPr wrap="square" lIns="36576" rIns="36576" tIns="18288" bIns="18288">
            <a:spAutoFit/>
          </a:bodyPr>
          <a:lstStyle/>
          <a:p>
            <a:pPr>
              <a:spcAft>
                <a:spcPts val="600"/>
              </a:spcAft>
            </a:pPr>
            <a:r>
              <a:rPr sz="1700" b="0">
                <a:solidFill>
                  <a:srgbClr val="2A78D6"/>
                </a:solidFill>
                <a:latin typeface="Aptos"/>
              </a:rPr>
              <a:t>Los autores dicen que faltan métodos</a:t>
            </a:r>
          </a:p>
        </p:txBody>
      </p:sp>
      <p:sp>
        <p:nvSpPr>
          <p:cNvPr id="18" name="Rounded Rectangle 17"/>
          <p:cNvSpPr/>
          <p:nvPr/>
        </p:nvSpPr>
        <p:spPr>
          <a:xfrm>
            <a:off x="9052560" y="1325880"/>
            <a:ext cx="2606040" cy="324612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1508760"/>
            <a:ext cx="2286000" cy="365760"/>
          </a:xfrm>
          <a:prstGeom prst="rect">
            <a:avLst/>
          </a:prstGeom>
          <a:noFill/>
        </p:spPr>
        <p:txBody>
          <a:bodyPr wrap="square" lIns="36576" rIns="36576" tIns="18288" bIns="18288">
            <a:spAutoFit/>
          </a:bodyPr>
          <a:lstStyle/>
          <a:p>
            <a:pPr>
              <a:spcAft>
                <a:spcPts val="600"/>
              </a:spcAft>
            </a:pPr>
            <a:r>
              <a:rPr sz="1300" b="1">
                <a:solidFill>
                  <a:srgbClr val="6B7280"/>
                </a:solidFill>
                <a:latin typeface="Aptos"/>
              </a:rPr>
              <a:t>Glauner et al., 2017</a:t>
            </a:r>
          </a:p>
        </p:txBody>
      </p:sp>
      <p:sp>
        <p:nvSpPr>
          <p:cNvPr id="20" name="TextBox 19"/>
          <p:cNvSpPr txBox="1"/>
          <p:nvPr/>
        </p:nvSpPr>
        <p:spPr>
          <a:xfrm>
            <a:off x="9235440" y="1920240"/>
            <a:ext cx="2286000" cy="1005840"/>
          </a:xfrm>
          <a:prstGeom prst="rect">
            <a:avLst/>
          </a:prstGeom>
          <a:noFill/>
        </p:spPr>
        <p:txBody>
          <a:bodyPr wrap="square" lIns="36576" rIns="36576" tIns="18288" bIns="18288">
            <a:spAutoFit/>
          </a:bodyPr>
          <a:lstStyle/>
          <a:p>
            <a:pPr>
              <a:spcAft>
                <a:spcPts val="600"/>
              </a:spcAft>
            </a:pPr>
            <a:r>
              <a:rPr sz="1800" b="1">
                <a:solidFill>
                  <a:srgbClr val="1F2937"/>
                </a:solidFill>
                <a:latin typeface="Aptos"/>
              </a:rPr>
              <a:t>Machine learning en energía</a:t>
            </a:r>
          </a:p>
        </p:txBody>
      </p:sp>
      <p:sp>
        <p:nvSpPr>
          <p:cNvPr id="21" name="TextBox 20"/>
          <p:cNvSpPr txBox="1"/>
          <p:nvPr/>
        </p:nvSpPr>
        <p:spPr>
          <a:xfrm>
            <a:off x="9235440" y="3154680"/>
            <a:ext cx="2286000" cy="1280160"/>
          </a:xfrm>
          <a:prstGeom prst="rect">
            <a:avLst/>
          </a:prstGeom>
          <a:noFill/>
        </p:spPr>
        <p:txBody>
          <a:bodyPr wrap="square" lIns="36576" rIns="36576" tIns="18288" bIns="18288">
            <a:spAutoFit/>
          </a:bodyPr>
          <a:lstStyle/>
          <a:p>
            <a:pPr>
              <a:spcAft>
                <a:spcPts val="600"/>
              </a:spcAft>
            </a:pPr>
            <a:r>
              <a:rPr sz="1700" b="0">
                <a:solidFill>
                  <a:srgbClr val="2A78D6"/>
                </a:solidFill>
                <a:latin typeface="Aptos"/>
              </a:rPr>
              <a:t>Busca fraude del cliente, no errores del dato</a:t>
            </a:r>
          </a:p>
        </p:txBody>
      </p:sp>
      <p:sp>
        <p:nvSpPr>
          <p:cNvPr id="22" name="Rounded Rectangle 21"/>
          <p:cNvSpPr/>
          <p:nvPr/>
        </p:nvSpPr>
        <p:spPr>
          <a:xfrm>
            <a:off x="548640" y="4846320"/>
            <a:ext cx="11064240" cy="1097280"/>
          </a:xfrm>
          <a:prstGeom prst="roundRect">
            <a:avLst>
              <a:gd name="adj" fmla="val 8000"/>
            </a:avLst>
          </a:prstGeom>
          <a:solidFill>
            <a:srgbClr val="084B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4892040"/>
            <a:ext cx="10515600" cy="1005840"/>
          </a:xfrm>
          <a:prstGeom prst="rect">
            <a:avLst/>
          </a:prstGeom>
          <a:noFill/>
        </p:spPr>
        <p:txBody>
          <a:bodyPr wrap="square" lIns="36576" rIns="36576" tIns="18288" bIns="18288" anchor="ctr">
            <a:spAutoFit/>
          </a:bodyPr>
          <a:lstStyle/>
          <a:p>
            <a:pPr>
              <a:spcAft>
                <a:spcPts val="600"/>
              </a:spcAft>
            </a:pPr>
            <a:r>
              <a:rPr sz="2000" b="1">
                <a:solidFill>
                  <a:srgbClr val="FFFFFF"/>
                </a:solidFill>
                <a:latin typeface="Aptos"/>
              </a:rPr>
              <a:t>Vacío: no encontramos un protocolo que compare reglas, cartas de control y machine learning con errores conocidos en registros tarifarios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El vacío en nuestros datos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3</a:t>
            </a:r>
          </a:p>
        </p:txBody>
      </p:sp>
      <p:sp>
        <p:nvSpPr>
          <p:cNvPr id="6" name="TextBox 5"/>
          <p:cNvSpPr txBox="1"/>
          <p:nvPr/>
        </p:nvSpPr>
        <p:spPr>
          <a:xfrm>
            <a:off x="685800" y="2011680"/>
            <a:ext cx="3474720" cy="1188720"/>
          </a:xfrm>
          <a:prstGeom prst="rect">
            <a:avLst/>
          </a:prstGeom>
          <a:noFill/>
        </p:spPr>
        <p:txBody>
          <a:bodyPr wrap="square" lIns="36576" rIns="36576" tIns="18288" bIns="18288">
            <a:spAutoFit/>
          </a:bodyPr>
          <a:lstStyle/>
          <a:p>
            <a:pPr>
              <a:spcAft>
                <a:spcPts val="600"/>
              </a:spcAft>
            </a:pPr>
            <a:r>
              <a:rPr sz="6000" b="1">
                <a:solidFill>
                  <a:srgbClr val="E34948"/>
                </a:solidFill>
                <a:latin typeface="Aptos Serif"/>
              </a:rPr>
              <a:t>43.577</a:t>
            </a:r>
          </a:p>
        </p:txBody>
      </p:sp>
      <p:sp>
        <p:nvSpPr>
          <p:cNvPr id="7" name="TextBox 6"/>
          <p:cNvSpPr txBox="1"/>
          <p:nvPr/>
        </p:nvSpPr>
        <p:spPr>
          <a:xfrm>
            <a:off x="685800" y="3291840"/>
            <a:ext cx="3474720" cy="1097280"/>
          </a:xfrm>
          <a:prstGeom prst="rect">
            <a:avLst/>
          </a:prstGeom>
          <a:noFill/>
        </p:spPr>
        <p:txBody>
          <a:bodyPr wrap="square" lIns="36576" rIns="36576" tIns="18288" bIns="18288">
            <a:spAutoFit/>
          </a:bodyPr>
          <a:lstStyle/>
          <a:p>
            <a:pPr>
              <a:spcAft>
                <a:spcPts val="200"/>
              </a:spcAft>
            </a:pPr>
            <a:r>
              <a:rPr sz="1900" b="0">
                <a:solidFill>
                  <a:srgbClr val="1F2937"/>
                </a:solidFill>
                <a:latin typeface="Aptos"/>
              </a:rPr>
              <a:t>Es una fecha de Excel.</a:t>
            </a:r>
          </a:p>
          <a:p>
            <a:pPr>
              <a:spcAft>
                <a:spcPts val="200"/>
              </a:spcAft>
            </a:pPr>
            <a:r>
              <a:rPr sz="1900" b="0">
                <a:solidFill>
                  <a:srgbClr val="1F2937"/>
                </a:solidFill>
                <a:latin typeface="Aptos"/>
              </a:rPr>
              <a:t>Se esperaba ≈ 22</a:t>
            </a:r>
          </a:p>
        </p:txBody>
      </p:sp>
      <p:sp>
        <p:nvSpPr>
          <p:cNvPr id="8" name="TextBox 7"/>
          <p:cNvSpPr txBox="1"/>
          <p:nvPr/>
        </p:nvSpPr>
        <p:spPr>
          <a:xfrm>
            <a:off x="4389120" y="2011680"/>
            <a:ext cx="3474720" cy="1188720"/>
          </a:xfrm>
          <a:prstGeom prst="rect">
            <a:avLst/>
          </a:prstGeom>
          <a:noFill/>
        </p:spPr>
        <p:txBody>
          <a:bodyPr wrap="square" lIns="36576" rIns="36576" tIns="18288" bIns="18288">
            <a:spAutoFit/>
          </a:bodyPr>
          <a:lstStyle/>
          <a:p>
            <a:pPr>
              <a:spcAft>
                <a:spcPts val="600"/>
              </a:spcAft>
            </a:pPr>
            <a:r>
              <a:rPr sz="6000" b="1">
                <a:solidFill>
                  <a:srgbClr val="EB6834"/>
                </a:solidFill>
                <a:latin typeface="Aptos Serif"/>
              </a:rPr>
              <a:t>205.151</a:t>
            </a:r>
          </a:p>
        </p:txBody>
      </p:sp>
      <p:sp>
        <p:nvSpPr>
          <p:cNvPr id="9" name="TextBox 8"/>
          <p:cNvSpPr txBox="1"/>
          <p:nvPr/>
        </p:nvSpPr>
        <p:spPr>
          <a:xfrm>
            <a:off x="4389120" y="3291840"/>
            <a:ext cx="3474720" cy="1097280"/>
          </a:xfrm>
          <a:prstGeom prst="rect">
            <a:avLst/>
          </a:prstGeom>
          <a:noFill/>
        </p:spPr>
        <p:txBody>
          <a:bodyPr wrap="square" lIns="36576" rIns="36576" tIns="18288" bIns="18288">
            <a:spAutoFit/>
          </a:bodyPr>
          <a:lstStyle/>
          <a:p>
            <a:pPr>
              <a:spcAft>
                <a:spcPts val="200"/>
              </a:spcAft>
            </a:pPr>
            <a:r>
              <a:rPr sz="1900" b="0">
                <a:solidFill>
                  <a:srgbClr val="1F2937"/>
                </a:solidFill>
                <a:latin typeface="Aptos"/>
              </a:rPr>
              <a:t>Mil veces más que</a:t>
            </a:r>
          </a:p>
          <a:p>
            <a:pPr>
              <a:spcAft>
                <a:spcPts val="200"/>
              </a:spcAft>
            </a:pPr>
            <a:r>
              <a:rPr sz="1900" b="0">
                <a:solidFill>
                  <a:srgbClr val="1F2937"/>
                </a:solidFill>
                <a:latin typeface="Aptos"/>
              </a:rPr>
              <a:t>sus vecinos (≈ 205)</a:t>
            </a:r>
          </a:p>
        </p:txBody>
      </p:sp>
      <p:sp>
        <p:nvSpPr>
          <p:cNvPr id="10" name="TextBox 9"/>
          <p:cNvSpPr txBox="1"/>
          <p:nvPr/>
        </p:nvSpPr>
        <p:spPr>
          <a:xfrm>
            <a:off x="8092440" y="2011680"/>
            <a:ext cx="3474720" cy="1188720"/>
          </a:xfrm>
          <a:prstGeom prst="rect">
            <a:avLst/>
          </a:prstGeom>
          <a:noFill/>
        </p:spPr>
        <p:txBody>
          <a:bodyPr wrap="square" lIns="36576" rIns="36576" tIns="18288" bIns="18288">
            <a:spAutoFit/>
          </a:bodyPr>
          <a:lstStyle/>
          <a:p>
            <a:pPr>
              <a:spcAft>
                <a:spcPts val="600"/>
              </a:spcAft>
            </a:pPr>
            <a:r>
              <a:rPr sz="6000" b="1">
                <a:solidFill>
                  <a:srgbClr val="2A78D6"/>
                </a:solidFill>
                <a:latin typeface="Aptos Serif"/>
              </a:rPr>
              <a:t>445</a:t>
            </a:r>
          </a:p>
        </p:txBody>
      </p:sp>
      <p:sp>
        <p:nvSpPr>
          <p:cNvPr id="11" name="TextBox 10"/>
          <p:cNvSpPr txBox="1"/>
          <p:nvPr/>
        </p:nvSpPr>
        <p:spPr>
          <a:xfrm>
            <a:off x="8092440" y="3291840"/>
            <a:ext cx="3474720" cy="1097280"/>
          </a:xfrm>
          <a:prstGeom prst="rect">
            <a:avLst/>
          </a:prstGeom>
          <a:noFill/>
        </p:spPr>
        <p:txBody>
          <a:bodyPr wrap="square" lIns="36576" rIns="36576" tIns="18288" bIns="18288">
            <a:spAutoFit/>
          </a:bodyPr>
          <a:lstStyle/>
          <a:p>
            <a:pPr>
              <a:spcAft>
                <a:spcPts val="200"/>
              </a:spcAft>
            </a:pPr>
            <a:r>
              <a:rPr sz="1900" b="0">
                <a:solidFill>
                  <a:srgbClr val="1F2937"/>
                </a:solidFill>
                <a:latin typeface="Aptos"/>
              </a:rPr>
              <a:t>Filas con la misma</a:t>
            </a:r>
          </a:p>
          <a:p>
            <a:pPr>
              <a:spcAft>
                <a:spcPts val="200"/>
              </a:spcAft>
            </a:pPr>
            <a:r>
              <a:rPr sz="1900" b="0">
                <a:solidFill>
                  <a:srgbClr val="1F2937"/>
                </a:solidFill>
                <a:latin typeface="Aptos"/>
              </a:rPr>
              <a:t>categoría escrita distinto</a:t>
            </a:r>
          </a:p>
        </p:txBody>
      </p:sp>
      <p:sp>
        <p:nvSpPr>
          <p:cNvPr id="12" name="TextBox 11"/>
          <p:cNvSpPr txBox="1"/>
          <p:nvPr/>
        </p:nvSpPr>
        <p:spPr>
          <a:xfrm>
            <a:off x="685800" y="493776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Los tres tienen formato válido. Revisar el formato no es suficiente.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Pregunta que guía el Hito 2</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4</a:t>
            </a:r>
          </a:p>
        </p:txBody>
      </p:sp>
      <p:sp>
        <p:nvSpPr>
          <p:cNvPr id="6" name="TextBox 5"/>
          <p:cNvSpPr txBox="1"/>
          <p:nvPr/>
        </p:nvSpPr>
        <p:spPr>
          <a:xfrm>
            <a:off x="731520" y="1371600"/>
            <a:ext cx="10789920" cy="146304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¿Qué combinación de reglas, cartas de control y machine learning detecta más errores con menos falsas alarmas?</a:t>
            </a:r>
          </a:p>
        </p:txBody>
      </p:sp>
      <p:sp>
        <p:nvSpPr>
          <p:cNvPr id="7" name="Oval 6"/>
          <p:cNvSpPr/>
          <p:nvPr/>
        </p:nvSpPr>
        <p:spPr>
          <a:xfrm>
            <a:off x="731520" y="3429000"/>
            <a:ext cx="731520" cy="7315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Aptos"/>
              </a:rPr>
              <a:t>1</a:t>
            </a:r>
          </a:p>
        </p:txBody>
      </p:sp>
      <p:sp>
        <p:nvSpPr>
          <p:cNvPr id="8" name="TextBox 7"/>
          <p:cNvSpPr txBox="1"/>
          <p:nvPr/>
        </p:nvSpPr>
        <p:spPr>
          <a:xfrm>
            <a:off x="1645920" y="3401568"/>
            <a:ext cx="2743200" cy="457200"/>
          </a:xfrm>
          <a:prstGeom prst="rect">
            <a:avLst/>
          </a:prstGeom>
          <a:noFill/>
        </p:spPr>
        <p:txBody>
          <a:bodyPr wrap="square" lIns="36576" rIns="36576" tIns="18288" bIns="18288">
            <a:spAutoFit/>
          </a:bodyPr>
          <a:lstStyle/>
          <a:p>
            <a:pPr>
              <a:spcAft>
                <a:spcPts val="600"/>
              </a:spcAft>
            </a:pPr>
            <a:r>
              <a:rPr sz="2100" b="1">
                <a:solidFill>
                  <a:srgbClr val="1F2937"/>
                </a:solidFill>
                <a:latin typeface="Aptos"/>
              </a:rPr>
              <a:t>Detección</a:t>
            </a:r>
          </a:p>
        </p:txBody>
      </p:sp>
      <p:sp>
        <p:nvSpPr>
          <p:cNvPr id="9" name="TextBox 8"/>
          <p:cNvSpPr txBox="1"/>
          <p:nvPr/>
        </p:nvSpPr>
        <p:spPr>
          <a:xfrm>
            <a:off x="1645920" y="3858768"/>
            <a:ext cx="2743200" cy="457200"/>
          </a:xfrm>
          <a:prstGeom prst="rect">
            <a:avLst/>
          </a:prstGeom>
          <a:noFill/>
        </p:spPr>
        <p:txBody>
          <a:bodyPr wrap="square" lIns="36576" rIns="36576" tIns="18288" bIns="18288">
            <a:spAutoFit/>
          </a:bodyPr>
          <a:lstStyle/>
          <a:p>
            <a:pPr>
              <a:spcAft>
                <a:spcPts val="600"/>
              </a:spcAft>
            </a:pPr>
            <a:r>
              <a:rPr sz="1600" b="0">
                <a:solidFill>
                  <a:srgbClr val="6B7280"/>
                </a:solidFill>
                <a:latin typeface="Aptos"/>
              </a:rPr>
              <a:t>% de errores encontrados</a:t>
            </a:r>
          </a:p>
        </p:txBody>
      </p:sp>
      <p:sp>
        <p:nvSpPr>
          <p:cNvPr id="10" name="Oval 9"/>
          <p:cNvSpPr/>
          <p:nvPr/>
        </p:nvSpPr>
        <p:spPr>
          <a:xfrm>
            <a:off x="4480559" y="3429000"/>
            <a:ext cx="731520" cy="73152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Aptos"/>
              </a:rPr>
              <a:t>2</a:t>
            </a:r>
          </a:p>
        </p:txBody>
      </p:sp>
      <p:sp>
        <p:nvSpPr>
          <p:cNvPr id="11" name="TextBox 10"/>
          <p:cNvSpPr txBox="1"/>
          <p:nvPr/>
        </p:nvSpPr>
        <p:spPr>
          <a:xfrm>
            <a:off x="5394959" y="3401568"/>
            <a:ext cx="2743200" cy="457200"/>
          </a:xfrm>
          <a:prstGeom prst="rect">
            <a:avLst/>
          </a:prstGeom>
          <a:noFill/>
        </p:spPr>
        <p:txBody>
          <a:bodyPr wrap="square" lIns="36576" rIns="36576" tIns="18288" bIns="18288">
            <a:spAutoFit/>
          </a:bodyPr>
          <a:lstStyle/>
          <a:p>
            <a:pPr>
              <a:spcAft>
                <a:spcPts val="600"/>
              </a:spcAft>
            </a:pPr>
            <a:r>
              <a:rPr sz="2100" b="1">
                <a:solidFill>
                  <a:srgbClr val="1F2937"/>
                </a:solidFill>
                <a:latin typeface="Aptos"/>
              </a:rPr>
              <a:t>Falsas alarmas</a:t>
            </a:r>
          </a:p>
        </p:txBody>
      </p:sp>
      <p:sp>
        <p:nvSpPr>
          <p:cNvPr id="12" name="TextBox 11"/>
          <p:cNvSpPr txBox="1"/>
          <p:nvPr/>
        </p:nvSpPr>
        <p:spPr>
          <a:xfrm>
            <a:off x="5394959" y="3858768"/>
            <a:ext cx="2743200" cy="457200"/>
          </a:xfrm>
          <a:prstGeom prst="rect">
            <a:avLst/>
          </a:prstGeom>
          <a:noFill/>
        </p:spPr>
        <p:txBody>
          <a:bodyPr wrap="square" lIns="36576" rIns="36576" tIns="18288" bIns="18288">
            <a:spAutoFit/>
          </a:bodyPr>
          <a:lstStyle/>
          <a:p>
            <a:pPr>
              <a:spcAft>
                <a:spcPts val="600"/>
              </a:spcAft>
            </a:pPr>
            <a:r>
              <a:rPr sz="1600" b="0">
                <a:solidFill>
                  <a:srgbClr val="6B7280"/>
                </a:solidFill>
                <a:latin typeface="Aptos"/>
              </a:rPr>
              <a:t>% de alertas sin error</a:t>
            </a:r>
          </a:p>
        </p:txBody>
      </p:sp>
      <p:sp>
        <p:nvSpPr>
          <p:cNvPr id="13" name="Oval 12"/>
          <p:cNvSpPr/>
          <p:nvPr/>
        </p:nvSpPr>
        <p:spPr>
          <a:xfrm>
            <a:off x="8229600" y="3429000"/>
            <a:ext cx="731520" cy="73152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200" b="1">
                <a:solidFill>
                  <a:srgbClr val="FFFFFF"/>
                </a:solidFill>
                <a:latin typeface="Aptos"/>
              </a:rPr>
              <a:t>3</a:t>
            </a:r>
          </a:p>
        </p:txBody>
      </p:sp>
      <p:sp>
        <p:nvSpPr>
          <p:cNvPr id="14" name="TextBox 13"/>
          <p:cNvSpPr txBox="1"/>
          <p:nvPr/>
        </p:nvSpPr>
        <p:spPr>
          <a:xfrm>
            <a:off x="9144000" y="3401568"/>
            <a:ext cx="2743200" cy="457200"/>
          </a:xfrm>
          <a:prstGeom prst="rect">
            <a:avLst/>
          </a:prstGeom>
          <a:noFill/>
        </p:spPr>
        <p:txBody>
          <a:bodyPr wrap="square" lIns="36576" rIns="36576" tIns="18288" bIns="18288">
            <a:spAutoFit/>
          </a:bodyPr>
          <a:lstStyle/>
          <a:p>
            <a:pPr>
              <a:spcAft>
                <a:spcPts val="600"/>
              </a:spcAft>
            </a:pPr>
            <a:r>
              <a:rPr sz="2100" b="1">
                <a:solidFill>
                  <a:srgbClr val="1F2937"/>
                </a:solidFill>
                <a:latin typeface="Aptos"/>
              </a:rPr>
              <a:t>Trazabilidad</a:t>
            </a:r>
          </a:p>
        </p:txBody>
      </p:sp>
      <p:sp>
        <p:nvSpPr>
          <p:cNvPr id="15" name="TextBox 14"/>
          <p:cNvSpPr txBox="1"/>
          <p:nvPr/>
        </p:nvSpPr>
        <p:spPr>
          <a:xfrm>
            <a:off x="9144000" y="3858768"/>
            <a:ext cx="2743200" cy="457200"/>
          </a:xfrm>
          <a:prstGeom prst="rect">
            <a:avLst/>
          </a:prstGeom>
          <a:noFill/>
        </p:spPr>
        <p:txBody>
          <a:bodyPr wrap="square" lIns="36576" rIns="36576" tIns="18288" bIns="18288">
            <a:spAutoFit/>
          </a:bodyPr>
          <a:lstStyle/>
          <a:p>
            <a:pPr>
              <a:spcAft>
                <a:spcPts val="600"/>
              </a:spcAft>
            </a:pPr>
            <a:r>
              <a:rPr sz="1600" b="0">
                <a:solidFill>
                  <a:srgbClr val="6B7280"/>
                </a:solidFill>
                <a:latin typeface="Aptos"/>
              </a:rPr>
              <a:t>Cada alerta lleva a su fila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Pipeline: 8 pasos automáticos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5</a:t>
            </a:r>
          </a:p>
        </p:txBody>
      </p:sp>
      <p:sp>
        <p:nvSpPr>
          <p:cNvPr id="6" name="Rounded Rectangle 5"/>
          <p:cNvSpPr/>
          <p:nvPr/>
        </p:nvSpPr>
        <p:spPr>
          <a:xfrm>
            <a:off x="685800" y="1554480"/>
            <a:ext cx="2331720" cy="109728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664207"/>
            <a:ext cx="2057400" cy="365760"/>
          </a:xfrm>
          <a:prstGeom prst="rect">
            <a:avLst/>
          </a:prstGeom>
          <a:noFill/>
        </p:spPr>
        <p:txBody>
          <a:bodyPr wrap="square" lIns="36576" rIns="36576" tIns="18288" bIns="18288">
            <a:spAutoFit/>
          </a:bodyPr>
          <a:lstStyle/>
          <a:p>
            <a:pPr>
              <a:spcAft>
                <a:spcPts val="600"/>
              </a:spcAft>
            </a:pPr>
            <a:r>
              <a:rPr sz="1400" b="1">
                <a:solidFill>
                  <a:srgbClr val="6B7280"/>
                </a:solidFill>
                <a:latin typeface="Aptos"/>
              </a:rPr>
              <a:t>1</a:t>
            </a:r>
          </a:p>
        </p:txBody>
      </p:sp>
      <p:sp>
        <p:nvSpPr>
          <p:cNvPr id="8" name="TextBox 7"/>
          <p:cNvSpPr txBox="1"/>
          <p:nvPr/>
        </p:nvSpPr>
        <p:spPr>
          <a:xfrm>
            <a:off x="822960" y="2011680"/>
            <a:ext cx="2057400" cy="548640"/>
          </a:xfrm>
          <a:prstGeom prst="rect">
            <a:avLst/>
          </a:prstGeom>
          <a:noFill/>
        </p:spPr>
        <p:txBody>
          <a:bodyPr wrap="square" lIns="36576" rIns="36576" tIns="18288" bIns="18288">
            <a:spAutoFit/>
          </a:bodyPr>
          <a:lstStyle/>
          <a:p>
            <a:pPr>
              <a:spcAft>
                <a:spcPts val="600"/>
              </a:spcAft>
            </a:pPr>
            <a:r>
              <a:rPr sz="1800" b="1">
                <a:solidFill>
                  <a:srgbClr val="1F2937"/>
                </a:solidFill>
                <a:latin typeface="Aptos"/>
              </a:rPr>
              <a:t>Cargar</a:t>
            </a:r>
          </a:p>
        </p:txBody>
      </p:sp>
      <p:cxnSp>
        <p:nvCxnSpPr>
          <p:cNvPr id="9" name="Connector 8"/>
          <p:cNvCxnSpPr/>
          <p:nvPr/>
        </p:nvCxnSpPr>
        <p:spPr>
          <a:xfrm>
            <a:off x="3090672" y="2103120"/>
            <a:ext cx="402336" cy="0"/>
          </a:xfrm>
          <a:prstGeom prst="line">
            <a:avLst/>
          </a:prstGeom>
          <a:ln w="25400">
            <a:solidFill>
              <a:srgbClr val="CBD2DA"/>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566160" y="1554480"/>
            <a:ext cx="2331720" cy="109728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703320" y="1664207"/>
            <a:ext cx="2057400" cy="365760"/>
          </a:xfrm>
          <a:prstGeom prst="rect">
            <a:avLst/>
          </a:prstGeom>
          <a:noFill/>
        </p:spPr>
        <p:txBody>
          <a:bodyPr wrap="square" lIns="36576" rIns="36576" tIns="18288" bIns="18288">
            <a:spAutoFit/>
          </a:bodyPr>
          <a:lstStyle/>
          <a:p>
            <a:pPr>
              <a:spcAft>
                <a:spcPts val="600"/>
              </a:spcAft>
            </a:pPr>
            <a:r>
              <a:rPr sz="1400" b="1">
                <a:solidFill>
                  <a:srgbClr val="6B7280"/>
                </a:solidFill>
                <a:latin typeface="Aptos"/>
              </a:rPr>
              <a:t>2</a:t>
            </a:r>
          </a:p>
        </p:txBody>
      </p:sp>
      <p:sp>
        <p:nvSpPr>
          <p:cNvPr id="12" name="TextBox 11"/>
          <p:cNvSpPr txBox="1"/>
          <p:nvPr/>
        </p:nvSpPr>
        <p:spPr>
          <a:xfrm>
            <a:off x="3703320" y="2011680"/>
            <a:ext cx="2057400" cy="548640"/>
          </a:xfrm>
          <a:prstGeom prst="rect">
            <a:avLst/>
          </a:prstGeom>
          <a:noFill/>
        </p:spPr>
        <p:txBody>
          <a:bodyPr wrap="square" lIns="36576" rIns="36576" tIns="18288" bIns="18288">
            <a:spAutoFit/>
          </a:bodyPr>
          <a:lstStyle/>
          <a:p>
            <a:pPr>
              <a:spcAft>
                <a:spcPts val="600"/>
              </a:spcAft>
            </a:pPr>
            <a:r>
              <a:rPr sz="1800" b="1">
                <a:solidFill>
                  <a:srgbClr val="1F2937"/>
                </a:solidFill>
                <a:latin typeface="Aptos"/>
              </a:rPr>
              <a:t>Describir</a:t>
            </a:r>
          </a:p>
        </p:txBody>
      </p:sp>
      <p:cxnSp>
        <p:nvCxnSpPr>
          <p:cNvPr id="13" name="Connector 12"/>
          <p:cNvCxnSpPr/>
          <p:nvPr/>
        </p:nvCxnSpPr>
        <p:spPr>
          <a:xfrm>
            <a:off x="5971031" y="2103120"/>
            <a:ext cx="402336" cy="0"/>
          </a:xfrm>
          <a:prstGeom prst="line">
            <a:avLst/>
          </a:prstGeom>
          <a:ln w="25400">
            <a:solidFill>
              <a:srgbClr val="CBD2DA"/>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446520" y="1554480"/>
            <a:ext cx="2331720" cy="10972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83680" y="1664207"/>
            <a:ext cx="2057400" cy="365760"/>
          </a:xfrm>
          <a:prstGeom prst="rect">
            <a:avLst/>
          </a:prstGeom>
          <a:noFill/>
        </p:spPr>
        <p:txBody>
          <a:bodyPr wrap="square" lIns="36576" rIns="36576" tIns="18288" bIns="18288">
            <a:spAutoFit/>
          </a:bodyPr>
          <a:lstStyle/>
          <a:p>
            <a:pPr>
              <a:spcAft>
                <a:spcPts val="600"/>
              </a:spcAft>
            </a:pPr>
            <a:r>
              <a:rPr sz="1400" b="1">
                <a:solidFill>
                  <a:srgbClr val="FFFFFF"/>
                </a:solidFill>
                <a:latin typeface="Aptos"/>
              </a:rPr>
              <a:t>3</a:t>
            </a:r>
          </a:p>
        </p:txBody>
      </p:sp>
      <p:sp>
        <p:nvSpPr>
          <p:cNvPr id="16" name="TextBox 15"/>
          <p:cNvSpPr txBox="1"/>
          <p:nvPr/>
        </p:nvSpPr>
        <p:spPr>
          <a:xfrm>
            <a:off x="6583680" y="2011680"/>
            <a:ext cx="2057400" cy="548640"/>
          </a:xfrm>
          <a:prstGeom prst="rect">
            <a:avLst/>
          </a:prstGeom>
          <a:noFill/>
        </p:spPr>
        <p:txBody>
          <a:bodyPr wrap="square" lIns="36576" rIns="36576" tIns="18288" bIns="18288">
            <a:spAutoFit/>
          </a:bodyPr>
          <a:lstStyle/>
          <a:p>
            <a:pPr>
              <a:spcAft>
                <a:spcPts val="600"/>
              </a:spcAft>
            </a:pPr>
            <a:r>
              <a:rPr sz="1800" b="1">
                <a:solidFill>
                  <a:srgbClr val="FFFFFF"/>
                </a:solidFill>
                <a:latin typeface="Aptos"/>
              </a:rPr>
              <a:t>Unificar etiquetas</a:t>
            </a:r>
          </a:p>
        </p:txBody>
      </p:sp>
      <p:cxnSp>
        <p:nvCxnSpPr>
          <p:cNvPr id="17" name="Connector 16"/>
          <p:cNvCxnSpPr/>
          <p:nvPr/>
        </p:nvCxnSpPr>
        <p:spPr>
          <a:xfrm>
            <a:off x="8851392" y="2103120"/>
            <a:ext cx="402336" cy="0"/>
          </a:xfrm>
          <a:prstGeom prst="line">
            <a:avLst/>
          </a:prstGeom>
          <a:ln w="25400">
            <a:solidFill>
              <a:srgbClr val="CBD2DA"/>
            </a:solidFill>
            <a:tailEnd type="triangle"/>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326880" y="1554480"/>
            <a:ext cx="2331720" cy="10972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4040" y="1664207"/>
            <a:ext cx="2057400" cy="365760"/>
          </a:xfrm>
          <a:prstGeom prst="rect">
            <a:avLst/>
          </a:prstGeom>
          <a:noFill/>
        </p:spPr>
        <p:txBody>
          <a:bodyPr wrap="square" lIns="36576" rIns="36576" tIns="18288" bIns="18288">
            <a:spAutoFit/>
          </a:bodyPr>
          <a:lstStyle/>
          <a:p>
            <a:pPr>
              <a:spcAft>
                <a:spcPts val="600"/>
              </a:spcAft>
            </a:pPr>
            <a:r>
              <a:rPr sz="1400" b="1">
                <a:solidFill>
                  <a:srgbClr val="FFFFFF"/>
                </a:solidFill>
                <a:latin typeface="Aptos"/>
              </a:rPr>
              <a:t>4</a:t>
            </a:r>
          </a:p>
        </p:txBody>
      </p:sp>
      <p:sp>
        <p:nvSpPr>
          <p:cNvPr id="20" name="TextBox 19"/>
          <p:cNvSpPr txBox="1"/>
          <p:nvPr/>
        </p:nvSpPr>
        <p:spPr>
          <a:xfrm>
            <a:off x="9464040" y="2011680"/>
            <a:ext cx="2057400" cy="548640"/>
          </a:xfrm>
          <a:prstGeom prst="rect">
            <a:avLst/>
          </a:prstGeom>
          <a:noFill/>
        </p:spPr>
        <p:txBody>
          <a:bodyPr wrap="square" lIns="36576" rIns="36576" tIns="18288" bIns="18288">
            <a:spAutoFit/>
          </a:bodyPr>
          <a:lstStyle/>
          <a:p>
            <a:pPr>
              <a:spcAft>
                <a:spcPts val="600"/>
              </a:spcAft>
            </a:pPr>
            <a:r>
              <a:rPr sz="1800" b="1">
                <a:solidFill>
                  <a:srgbClr val="FFFFFF"/>
                </a:solidFill>
                <a:latin typeface="Aptos"/>
              </a:rPr>
              <a:t>Aplicar 12 reglas</a:t>
            </a:r>
          </a:p>
        </p:txBody>
      </p:sp>
      <p:sp>
        <p:nvSpPr>
          <p:cNvPr id="21" name="Rounded Rectangle 20"/>
          <p:cNvSpPr/>
          <p:nvPr/>
        </p:nvSpPr>
        <p:spPr>
          <a:xfrm>
            <a:off x="685800" y="3383280"/>
            <a:ext cx="2331720" cy="109728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22960" y="3493008"/>
            <a:ext cx="2057400" cy="365760"/>
          </a:xfrm>
          <a:prstGeom prst="rect">
            <a:avLst/>
          </a:prstGeom>
          <a:noFill/>
        </p:spPr>
        <p:txBody>
          <a:bodyPr wrap="square" lIns="36576" rIns="36576" tIns="18288" bIns="18288">
            <a:spAutoFit/>
          </a:bodyPr>
          <a:lstStyle/>
          <a:p>
            <a:pPr>
              <a:spcAft>
                <a:spcPts val="600"/>
              </a:spcAft>
            </a:pPr>
            <a:r>
              <a:rPr sz="1400" b="1">
                <a:solidFill>
                  <a:srgbClr val="6B7280"/>
                </a:solidFill>
                <a:latin typeface="Aptos"/>
              </a:rPr>
              <a:t>5</a:t>
            </a:r>
          </a:p>
        </p:txBody>
      </p:sp>
      <p:sp>
        <p:nvSpPr>
          <p:cNvPr id="23" name="TextBox 22"/>
          <p:cNvSpPr txBox="1"/>
          <p:nvPr/>
        </p:nvSpPr>
        <p:spPr>
          <a:xfrm>
            <a:off x="822960" y="3840480"/>
            <a:ext cx="2057400" cy="548640"/>
          </a:xfrm>
          <a:prstGeom prst="rect">
            <a:avLst/>
          </a:prstGeom>
          <a:noFill/>
        </p:spPr>
        <p:txBody>
          <a:bodyPr wrap="square" lIns="36576" rIns="36576" tIns="18288" bIns="18288">
            <a:spAutoFit/>
          </a:bodyPr>
          <a:lstStyle/>
          <a:p>
            <a:pPr>
              <a:spcAft>
                <a:spcPts val="600"/>
              </a:spcAft>
            </a:pPr>
            <a:r>
              <a:rPr sz="1800" b="1">
                <a:solidFill>
                  <a:srgbClr val="1F2937"/>
                </a:solidFill>
                <a:latin typeface="Aptos"/>
              </a:rPr>
              <a:t>Armar series</a:t>
            </a:r>
          </a:p>
        </p:txBody>
      </p:sp>
      <p:cxnSp>
        <p:nvCxnSpPr>
          <p:cNvPr id="24" name="Connector 23"/>
          <p:cNvCxnSpPr/>
          <p:nvPr/>
        </p:nvCxnSpPr>
        <p:spPr>
          <a:xfrm>
            <a:off x="3090672" y="3931920"/>
            <a:ext cx="402336" cy="0"/>
          </a:xfrm>
          <a:prstGeom prst="line">
            <a:avLst/>
          </a:prstGeom>
          <a:ln w="25400">
            <a:solidFill>
              <a:srgbClr val="CBD2DA"/>
            </a:solidFill>
            <a:tailEnd type="triangle"/>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566160" y="3383280"/>
            <a:ext cx="2331720" cy="10972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703320" y="3493008"/>
            <a:ext cx="2057400" cy="365760"/>
          </a:xfrm>
          <a:prstGeom prst="rect">
            <a:avLst/>
          </a:prstGeom>
          <a:noFill/>
        </p:spPr>
        <p:txBody>
          <a:bodyPr wrap="square" lIns="36576" rIns="36576" tIns="18288" bIns="18288">
            <a:spAutoFit/>
          </a:bodyPr>
          <a:lstStyle/>
          <a:p>
            <a:pPr>
              <a:spcAft>
                <a:spcPts val="600"/>
              </a:spcAft>
            </a:pPr>
            <a:r>
              <a:rPr sz="1400" b="1">
                <a:solidFill>
                  <a:srgbClr val="FFFFFF"/>
                </a:solidFill>
                <a:latin typeface="Aptos"/>
              </a:rPr>
              <a:t>6</a:t>
            </a:r>
          </a:p>
        </p:txBody>
      </p:sp>
      <p:sp>
        <p:nvSpPr>
          <p:cNvPr id="27" name="TextBox 26"/>
          <p:cNvSpPr txBox="1"/>
          <p:nvPr/>
        </p:nvSpPr>
        <p:spPr>
          <a:xfrm>
            <a:off x="3703320" y="3840480"/>
            <a:ext cx="2057400" cy="548640"/>
          </a:xfrm>
          <a:prstGeom prst="rect">
            <a:avLst/>
          </a:prstGeom>
          <a:noFill/>
        </p:spPr>
        <p:txBody>
          <a:bodyPr wrap="square" lIns="36576" rIns="36576" tIns="18288" bIns="18288">
            <a:spAutoFit/>
          </a:bodyPr>
          <a:lstStyle/>
          <a:p>
            <a:pPr>
              <a:spcAft>
                <a:spcPts val="600"/>
              </a:spcAft>
            </a:pPr>
            <a:r>
              <a:rPr sz="1800" b="1">
                <a:solidFill>
                  <a:srgbClr val="FFFFFF"/>
                </a:solidFill>
                <a:latin typeface="Aptos"/>
              </a:rPr>
              <a:t>Cartas I-MR</a:t>
            </a:r>
          </a:p>
        </p:txBody>
      </p:sp>
      <p:cxnSp>
        <p:nvCxnSpPr>
          <p:cNvPr id="28" name="Connector 27"/>
          <p:cNvCxnSpPr/>
          <p:nvPr/>
        </p:nvCxnSpPr>
        <p:spPr>
          <a:xfrm>
            <a:off x="5971031" y="3931920"/>
            <a:ext cx="402336" cy="0"/>
          </a:xfrm>
          <a:prstGeom prst="line">
            <a:avLst/>
          </a:prstGeom>
          <a:ln w="25400">
            <a:solidFill>
              <a:srgbClr val="CBD2DA"/>
            </a:solidFill>
            <a:tailEnd type="triangle"/>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446520" y="3383280"/>
            <a:ext cx="2331720" cy="10972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0" y="3493008"/>
            <a:ext cx="2057400" cy="365760"/>
          </a:xfrm>
          <a:prstGeom prst="rect">
            <a:avLst/>
          </a:prstGeom>
          <a:noFill/>
        </p:spPr>
        <p:txBody>
          <a:bodyPr wrap="square" lIns="36576" rIns="36576" tIns="18288" bIns="18288">
            <a:spAutoFit/>
          </a:bodyPr>
          <a:lstStyle/>
          <a:p>
            <a:pPr>
              <a:spcAft>
                <a:spcPts val="600"/>
              </a:spcAft>
            </a:pPr>
            <a:r>
              <a:rPr sz="1400" b="1">
                <a:solidFill>
                  <a:srgbClr val="FFFFFF"/>
                </a:solidFill>
                <a:latin typeface="Aptos"/>
              </a:rPr>
              <a:t>7</a:t>
            </a:r>
          </a:p>
        </p:txBody>
      </p:sp>
      <p:sp>
        <p:nvSpPr>
          <p:cNvPr id="31" name="TextBox 30"/>
          <p:cNvSpPr txBox="1"/>
          <p:nvPr/>
        </p:nvSpPr>
        <p:spPr>
          <a:xfrm>
            <a:off x="6583680" y="3840480"/>
            <a:ext cx="2057400" cy="548640"/>
          </a:xfrm>
          <a:prstGeom prst="rect">
            <a:avLst/>
          </a:prstGeom>
          <a:noFill/>
        </p:spPr>
        <p:txBody>
          <a:bodyPr wrap="square" lIns="36576" rIns="36576" tIns="18288" bIns="18288">
            <a:spAutoFit/>
          </a:bodyPr>
          <a:lstStyle/>
          <a:p>
            <a:pPr>
              <a:spcAft>
                <a:spcPts val="600"/>
              </a:spcAft>
            </a:pPr>
            <a:r>
              <a:rPr sz="1800" b="1">
                <a:solidFill>
                  <a:srgbClr val="FFFFFF"/>
                </a:solidFill>
                <a:latin typeface="Aptos"/>
              </a:rPr>
              <a:t>Isolation Forest</a:t>
            </a:r>
          </a:p>
        </p:txBody>
      </p:sp>
      <p:cxnSp>
        <p:nvCxnSpPr>
          <p:cNvPr id="32" name="Connector 31"/>
          <p:cNvCxnSpPr/>
          <p:nvPr/>
        </p:nvCxnSpPr>
        <p:spPr>
          <a:xfrm>
            <a:off x="8851392" y="3931920"/>
            <a:ext cx="402336" cy="0"/>
          </a:xfrm>
          <a:prstGeom prst="line">
            <a:avLst/>
          </a:prstGeom>
          <a:ln w="25400">
            <a:solidFill>
              <a:srgbClr val="CBD2DA"/>
            </a:solidFill>
            <a:tailEnd type="triangle"/>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326880" y="3383280"/>
            <a:ext cx="2331720" cy="109728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64040" y="3493008"/>
            <a:ext cx="2057400" cy="365760"/>
          </a:xfrm>
          <a:prstGeom prst="rect">
            <a:avLst/>
          </a:prstGeom>
          <a:noFill/>
        </p:spPr>
        <p:txBody>
          <a:bodyPr wrap="square" lIns="36576" rIns="36576" tIns="18288" bIns="18288">
            <a:spAutoFit/>
          </a:bodyPr>
          <a:lstStyle/>
          <a:p>
            <a:pPr>
              <a:spcAft>
                <a:spcPts val="600"/>
              </a:spcAft>
            </a:pPr>
            <a:r>
              <a:rPr sz="1400" b="1">
                <a:solidFill>
                  <a:srgbClr val="FFFFFF"/>
                </a:solidFill>
                <a:latin typeface="Aptos"/>
              </a:rPr>
              <a:t>8</a:t>
            </a:r>
          </a:p>
        </p:txBody>
      </p:sp>
      <p:sp>
        <p:nvSpPr>
          <p:cNvPr id="35" name="TextBox 34"/>
          <p:cNvSpPr txBox="1"/>
          <p:nvPr/>
        </p:nvSpPr>
        <p:spPr>
          <a:xfrm>
            <a:off x="9464040" y="3840480"/>
            <a:ext cx="2057400" cy="548640"/>
          </a:xfrm>
          <a:prstGeom prst="rect">
            <a:avLst/>
          </a:prstGeom>
          <a:noFill/>
        </p:spPr>
        <p:txBody>
          <a:bodyPr wrap="square" lIns="36576" rIns="36576" tIns="18288" bIns="18288">
            <a:spAutoFit/>
          </a:bodyPr>
          <a:lstStyle/>
          <a:p>
            <a:pPr>
              <a:spcAft>
                <a:spcPts val="600"/>
              </a:spcAft>
            </a:pPr>
            <a:r>
              <a:rPr sz="1800" b="1">
                <a:solidFill>
                  <a:srgbClr val="FFFFFF"/>
                </a:solidFill>
                <a:latin typeface="Aptos"/>
              </a:rPr>
              <a:t>Evaluar</a:t>
            </a:r>
          </a:p>
        </p:txBody>
      </p:sp>
      <p:sp>
        <p:nvSpPr>
          <p:cNvPr id="36" name="Oval 35"/>
          <p:cNvSpPr/>
          <p:nvPr/>
        </p:nvSpPr>
        <p:spPr>
          <a:xfrm>
            <a:off x="685800" y="5257800"/>
            <a:ext cx="274320" cy="27432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Aptos"/>
              </a:rPr>
              <a:t/>
            </a:r>
          </a:p>
        </p:txBody>
      </p:sp>
      <p:sp>
        <p:nvSpPr>
          <p:cNvPr id="37" name="TextBox 36"/>
          <p:cNvSpPr txBox="1"/>
          <p:nvPr/>
        </p:nvSpPr>
        <p:spPr>
          <a:xfrm>
            <a:off x="1051560" y="5212080"/>
            <a:ext cx="4572000" cy="365760"/>
          </a:xfrm>
          <a:prstGeom prst="rect">
            <a:avLst/>
          </a:prstGeom>
          <a:noFill/>
        </p:spPr>
        <p:txBody>
          <a:bodyPr wrap="square" lIns="36576" rIns="36576" tIns="18288" bIns="18288">
            <a:spAutoFit/>
          </a:bodyPr>
          <a:lstStyle/>
          <a:p>
            <a:pPr>
              <a:spcAft>
                <a:spcPts val="600"/>
              </a:spcAft>
            </a:pPr>
            <a:r>
              <a:rPr sz="1500" b="0">
                <a:solidFill>
                  <a:srgbClr val="6B7280"/>
                </a:solidFill>
                <a:latin typeface="Aptos"/>
              </a:rPr>
              <a:t>Nuevo en el Hito 2</a:t>
            </a:r>
          </a:p>
        </p:txBody>
      </p:sp>
      <p:sp>
        <p:nvSpPr>
          <p:cNvPr id="38" name="TextBox 37"/>
          <p:cNvSpPr txBox="1"/>
          <p:nvPr/>
        </p:nvSpPr>
        <p:spPr>
          <a:xfrm>
            <a:off x="685800" y="576072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Mismo archivo → mismos resultados, siempre.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Qué encontraron las reglas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6</a:t>
            </a:r>
          </a:p>
        </p:txBody>
      </p:sp>
      <p:graphicFrame>
        <p:nvGraphicFramePr>
          <p:cNvPr id="6" name="Table 5"/>
          <p:cNvGraphicFramePr>
            <a:graphicFrameLocks noGrp="1"/>
          </p:cNvGraphicFramePr>
          <p:nvPr/>
        </p:nvGraphicFramePr>
        <p:xfrm>
          <a:off x="685800" y="1325880"/>
          <a:ext cx="10789920" cy="3840480"/>
        </p:xfrm>
        <a:graphic>
          <a:graphicData uri="http://schemas.openxmlformats.org/drawingml/2006/table">
            <a:tbl>
              <a:tblPr firstRow="0" bandRow="0">
                <a:tableStyleId>{2D5ABB26-0587-4C30-8999-92F81FD0307C}</a:tableStyleId>
              </a:tblPr>
              <a:tblGrid>
                <a:gridCol w="9418320"/>
                <a:gridCol w="1371600"/>
              </a:tblGrid>
              <a:tr h="548640">
                <a:tc>
                  <a:txBody>
                    <a:bodyPr/>
                    <a:lstStyle/>
                    <a:p>
                      <a:r>
                        <a:rPr sz="1400" b="1">
                          <a:solidFill>
                            <a:srgbClr val="6B7280"/>
                          </a:solidFill>
                          <a:latin typeface="Aptos"/>
                        </a:rPr>
                        <a:t>Regla</a:t>
                      </a:r>
                    </a:p>
                  </a:txBody>
                  <a:tcPr marL="45720" marR="73152" anchor="ctr">
                    <a:lnB w="19050" cap="flat" cmpd="sng" algn="ctr">
                      <a:solidFill>
                        <a:srgbClr val="084B76"/>
                      </a:solidFill>
                    </a:lnB>
                    <a:lnT w="0" cap="flat" cmpd="sng" algn="ctr">
                      <a:noFill/>
                    </a:lnT>
                    <a:lnR w="0" cap="flat" cmpd="sng" algn="ctr">
                      <a:noFill/>
                    </a:lnR>
                    <a:lnL w="0" cap="flat" cmpd="sng" algn="ctr">
                      <a:noFill/>
                    </a:lnL>
                    <a:noFill/>
                  </a:tcPr>
                </a:tc>
                <a:tc>
                  <a:txBody>
                    <a:bodyPr/>
                    <a:lstStyle/>
                    <a:p>
                      <a:pPr algn="r"/>
                      <a:r>
                        <a:rPr sz="1400" b="1">
                          <a:solidFill>
                            <a:srgbClr val="6B7280"/>
                          </a:solidFill>
                          <a:latin typeface="Aptos"/>
                        </a:rPr>
                        <a:t>Filas</a:t>
                      </a:r>
                    </a:p>
                  </a:txBody>
                  <a:tcPr marL="109728" marR="73152" anchor="ctr">
                    <a:lnB w="19050" cap="flat" cmpd="sng" algn="ctr">
                      <a:solidFill>
                        <a:srgbClr val="084B76"/>
                      </a:solidFill>
                    </a:lnB>
                    <a:lnT w="0" cap="flat" cmpd="sng" algn="ctr">
                      <a:noFill/>
                    </a:lnT>
                    <a:lnR w="0" cap="flat" cmpd="sng" algn="ctr">
                      <a:noFill/>
                    </a:lnR>
                    <a:lnL w="0" cap="flat" cmpd="sng" algn="ctr">
                      <a:noFill/>
                    </a:lnL>
                    <a:noFill/>
                  </a:tcPr>
                </a:tc>
              </a:tr>
              <a:tr h="548640">
                <a:tc>
                  <a:txBody>
                    <a:bodyPr/>
                    <a:lstStyle/>
                    <a:p>
                      <a:r>
                        <a:rPr sz="1800" b="0">
                          <a:solidFill>
                            <a:srgbClr val="1F2937"/>
                          </a:solidFill>
                          <a:latin typeface="Aptos"/>
                        </a:rPr>
                        <a:t>Duplicados exactos</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pPr algn="r"/>
                      <a:r>
                        <a:rPr sz="1800" b="0">
                          <a:solidFill>
                            <a:srgbClr val="1F2937"/>
                          </a:solidFill>
                          <a:latin typeface="Aptos"/>
                        </a:rPr>
                        <a:t>10</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548640">
                <a:tc>
                  <a:txBody>
                    <a:bodyPr/>
                    <a:lstStyle/>
                    <a:p>
                      <a:r>
                        <a:rPr sz="1800" b="0">
                          <a:solidFill>
                            <a:srgbClr val="1F2937"/>
                          </a:solidFill>
                          <a:latin typeface="Aptos"/>
                        </a:rPr>
                        <a:t>Misma categoría escrita distinto</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pPr algn="r"/>
                      <a:r>
                        <a:rPr sz="1800" b="0">
                          <a:solidFill>
                            <a:srgbClr val="1F2937"/>
                          </a:solidFill>
                          <a:latin typeface="Aptos"/>
                        </a:rPr>
                        <a:t>445</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548640">
                <a:tc>
                  <a:txBody>
                    <a:bodyPr/>
                    <a:lstStyle/>
                    <a:p>
                      <a:r>
                        <a:rPr sz="1800" b="0">
                          <a:solidFill>
                            <a:srgbClr val="1F2937"/>
                          </a:solidFill>
                          <a:latin typeface="Aptos"/>
                        </a:rPr>
                        <a:t>Tarifa EPM menor que la compartida</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pPr algn="r"/>
                      <a:r>
                        <a:rPr sz="1800" b="0">
                          <a:solidFill>
                            <a:srgbClr val="1F2937"/>
                          </a:solidFill>
                          <a:latin typeface="Aptos"/>
                        </a:rPr>
                        <a:t>2</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548640">
                <a:tc>
                  <a:txBody>
                    <a:bodyPr/>
                    <a:lstStyle/>
                    <a:p>
                      <a:r>
                        <a:rPr sz="1800" b="0">
                          <a:solidFill>
                            <a:srgbClr val="1F2937"/>
                          </a:solidFill>
                          <a:latin typeface="Aptos"/>
                        </a:rPr>
                        <a:t>Número que es una fecha de Excel</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pPr algn="r"/>
                      <a:r>
                        <a:rPr sz="1800" b="0">
                          <a:solidFill>
                            <a:srgbClr val="1F2937"/>
                          </a:solidFill>
                          <a:latin typeface="Aptos"/>
                        </a:rPr>
                        <a:t>2</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548640">
                <a:tc>
                  <a:txBody>
                    <a:bodyPr/>
                    <a:lstStyle/>
                    <a:p>
                      <a:r>
                        <a:rPr sz="1800" b="0">
                          <a:solidFill>
                            <a:srgbClr val="1F2937"/>
                          </a:solidFill>
                          <a:latin typeface="Aptos"/>
                        </a:rPr>
                        <a:t>Valor 10 veces mayor que lo normal</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pPr algn="r"/>
                      <a:r>
                        <a:rPr sz="1800" b="0">
                          <a:solidFill>
                            <a:srgbClr val="1F2937"/>
                          </a:solidFill>
                          <a:latin typeface="Aptos"/>
                        </a:rPr>
                        <a:t>3</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548640">
                <a:tc>
                  <a:txBody>
                    <a:bodyPr/>
                    <a:lstStyle/>
                    <a:p>
                      <a:r>
                        <a:rPr sz="1800" b="0">
                          <a:solidFill>
                            <a:srgbClr val="1F2937"/>
                          </a:solidFill>
                          <a:latin typeface="Aptos"/>
                        </a:rPr>
                        <a:t>Negativos (solo en Restricciones, es un aviso)</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pPr algn="r"/>
                      <a:r>
                        <a:rPr sz="1800" b="0">
                          <a:solidFill>
                            <a:srgbClr val="1F2937"/>
                          </a:solidFill>
                          <a:latin typeface="Aptos"/>
                        </a:rPr>
                        <a:t>9</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bl>
          </a:graphicData>
        </a:graphic>
      </p:graphicFrame>
      <p:sp>
        <p:nvSpPr>
          <p:cNvPr id="7" name="TextBox 6"/>
          <p:cNvSpPr txBox="1"/>
          <p:nvPr/>
        </p:nvSpPr>
        <p:spPr>
          <a:xfrm>
            <a:off x="685800" y="548640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Las reglas nuevas encuentran lo que el formato no ve.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Errores reales en los datos de EPM</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7</a:t>
            </a:r>
          </a:p>
        </p:txBody>
      </p:sp>
      <p:graphicFrame>
        <p:nvGraphicFramePr>
          <p:cNvPr id="6" name="Table 5"/>
          <p:cNvGraphicFramePr>
            <a:graphicFrameLocks noGrp="1"/>
          </p:cNvGraphicFramePr>
          <p:nvPr/>
        </p:nvGraphicFramePr>
        <p:xfrm>
          <a:off x="685800" y="1325880"/>
          <a:ext cx="10789920" cy="3108960"/>
        </p:xfrm>
        <a:graphic>
          <a:graphicData uri="http://schemas.openxmlformats.org/drawingml/2006/table">
            <a:tbl>
              <a:tblPr firstRow="0" bandRow="0">
                <a:tableStyleId>{2D5ABB26-0587-4C30-8999-92F81FD0307C}</a:tableStyleId>
              </a:tblPr>
              <a:tblGrid>
                <a:gridCol w="1371600"/>
                <a:gridCol w="2103120"/>
                <a:gridCol w="1920240"/>
                <a:gridCol w="5394960"/>
              </a:tblGrid>
              <a:tr h="621792">
                <a:tc>
                  <a:txBody>
                    <a:bodyPr/>
                    <a:lstStyle/>
                    <a:p>
                      <a:r>
                        <a:rPr sz="1400" b="1">
                          <a:solidFill>
                            <a:srgbClr val="6B7280"/>
                          </a:solidFill>
                          <a:latin typeface="Aptos"/>
                        </a:rPr>
                        <a:t>Registro</a:t>
                      </a:r>
                    </a:p>
                  </a:txBody>
                  <a:tcPr marL="45720" marR="73152" anchor="ctr">
                    <a:lnB w="19050" cap="flat" cmpd="sng" algn="ctr">
                      <a:solidFill>
                        <a:srgbClr val="084B76"/>
                      </a:solidFill>
                    </a:lnB>
                    <a:lnT w="0" cap="flat" cmpd="sng" algn="ctr">
                      <a:noFill/>
                    </a:lnT>
                    <a:lnR w="0" cap="flat" cmpd="sng" algn="ctr">
                      <a:noFill/>
                    </a:lnR>
                    <a:lnL w="0" cap="flat" cmpd="sng" algn="ctr">
                      <a:noFill/>
                    </a:lnL>
                    <a:noFill/>
                  </a:tcPr>
                </a:tc>
                <a:tc>
                  <a:txBody>
                    <a:bodyPr/>
                    <a:lstStyle/>
                    <a:p>
                      <a:r>
                        <a:rPr sz="1400" b="1">
                          <a:solidFill>
                            <a:srgbClr val="6B7280"/>
                          </a:solidFill>
                          <a:latin typeface="Aptos"/>
                        </a:rPr>
                        <a:t>Publicado</a:t>
                      </a:r>
                    </a:p>
                  </a:txBody>
                  <a:tcPr marL="109728" marR="73152" anchor="ctr">
                    <a:lnB w="19050" cap="flat" cmpd="sng" algn="ctr">
                      <a:solidFill>
                        <a:srgbClr val="084B76"/>
                      </a:solidFill>
                    </a:lnB>
                    <a:lnT w="0" cap="flat" cmpd="sng" algn="ctr">
                      <a:noFill/>
                    </a:lnT>
                    <a:lnR w="0" cap="flat" cmpd="sng" algn="ctr">
                      <a:noFill/>
                    </a:lnR>
                    <a:lnL w="0" cap="flat" cmpd="sng" algn="ctr">
                      <a:noFill/>
                    </a:lnL>
                    <a:noFill/>
                  </a:tcPr>
                </a:tc>
                <a:tc>
                  <a:txBody>
                    <a:bodyPr/>
                    <a:lstStyle/>
                    <a:p>
                      <a:r>
                        <a:rPr sz="1400" b="1">
                          <a:solidFill>
                            <a:srgbClr val="6B7280"/>
                          </a:solidFill>
                          <a:latin typeface="Aptos"/>
                        </a:rPr>
                        <a:t>Esperado</a:t>
                      </a:r>
                    </a:p>
                  </a:txBody>
                  <a:tcPr marL="109728" marR="73152" anchor="ctr">
                    <a:lnB w="19050" cap="flat" cmpd="sng" algn="ctr">
                      <a:solidFill>
                        <a:srgbClr val="084B76"/>
                      </a:solidFill>
                    </a:lnB>
                    <a:lnT w="0" cap="flat" cmpd="sng" algn="ctr">
                      <a:noFill/>
                    </a:lnT>
                    <a:lnR w="0" cap="flat" cmpd="sng" algn="ctr">
                      <a:noFill/>
                    </a:lnR>
                    <a:lnL w="0" cap="flat" cmpd="sng" algn="ctr">
                      <a:noFill/>
                    </a:lnL>
                    <a:noFill/>
                  </a:tcPr>
                </a:tc>
                <a:tc>
                  <a:txBody>
                    <a:bodyPr/>
                    <a:lstStyle/>
                    <a:p>
                      <a:r>
                        <a:rPr sz="1400" b="1">
                          <a:solidFill>
                            <a:srgbClr val="6B7280"/>
                          </a:solidFill>
                          <a:latin typeface="Aptos"/>
                        </a:rPr>
                        <a:t>Causa probable</a:t>
                      </a:r>
                    </a:p>
                  </a:txBody>
                  <a:tcPr marL="109728" marR="73152" anchor="ctr">
                    <a:lnB w="19050" cap="flat" cmpd="sng" algn="ctr">
                      <a:solidFill>
                        <a:srgbClr val="084B76"/>
                      </a:solidFill>
                    </a:lnB>
                    <a:lnT w="0" cap="flat" cmpd="sng" algn="ctr">
                      <a:noFill/>
                    </a:lnT>
                    <a:lnR w="0" cap="flat" cmpd="sng" algn="ctr">
                      <a:noFill/>
                    </a:lnR>
                    <a:lnL w="0" cap="flat" cmpd="sng" algn="ctr">
                      <a:noFill/>
                    </a:lnL>
                    <a:noFill/>
                  </a:tcPr>
                </a:tc>
              </a:tr>
              <a:tr h="621792">
                <a:tc>
                  <a:txBody>
                    <a:bodyPr/>
                    <a:lstStyle/>
                    <a:p>
                      <a:r>
                        <a:rPr sz="1900" b="0">
                          <a:solidFill>
                            <a:srgbClr val="1F2937"/>
                          </a:solidFill>
                          <a:latin typeface="Aptos"/>
                        </a:rPr>
                        <a:t>2047</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205.151</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 205</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Se perdió la coma decimal</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621792">
                <a:tc>
                  <a:txBody>
                    <a:bodyPr/>
                    <a:lstStyle/>
                    <a:p>
                      <a:r>
                        <a:rPr sz="1900" b="0">
                          <a:solidFill>
                            <a:srgbClr val="1F2937"/>
                          </a:solidFill>
                          <a:latin typeface="Aptos"/>
                        </a:rPr>
                        <a:t>3131</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43.577</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 22</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Excel lo convirtió en fecha</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621792">
                <a:tc>
                  <a:txBody>
                    <a:bodyPr/>
                    <a:lstStyle/>
                    <a:p>
                      <a:r>
                        <a:rPr sz="1900" b="0">
                          <a:solidFill>
                            <a:srgbClr val="1F2937"/>
                          </a:solidFill>
                          <a:latin typeface="Aptos"/>
                        </a:rPr>
                        <a:t>3133</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43.501</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 5</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Excel lo convirtió en fecha</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621792">
                <a:tc>
                  <a:txBody>
                    <a:bodyPr/>
                    <a:lstStyle/>
                    <a:p>
                      <a:r>
                        <a:rPr sz="1900" b="0">
                          <a:solidFill>
                            <a:srgbClr val="1F2937"/>
                          </a:solidFill>
                          <a:latin typeface="Aptos"/>
                        </a:rPr>
                        <a:t>2348</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520,20</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900" b="0">
                          <a:solidFill>
                            <a:srgbClr val="1F2937"/>
                          </a:solidFill>
                          <a:latin typeface="Aptos"/>
                        </a:rPr>
                        <a:t>Mezcla valores de enero y abril</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bl>
          </a:graphicData>
        </a:graphic>
      </p:graphicFrame>
      <p:sp>
        <p:nvSpPr>
          <p:cNvPr id="7" name="TextBox 6"/>
          <p:cNvSpPr txBox="1"/>
          <p:nvPr/>
        </p:nvSpPr>
        <p:spPr>
          <a:xfrm>
            <a:off x="731520" y="4572000"/>
            <a:ext cx="10789920" cy="365760"/>
          </a:xfrm>
          <a:prstGeom prst="rect">
            <a:avLst/>
          </a:prstGeom>
          <a:noFill/>
        </p:spPr>
        <p:txBody>
          <a:bodyPr wrap="square" lIns="36576" rIns="36576" tIns="18288" bIns="18288">
            <a:spAutoFit/>
          </a:bodyPr>
          <a:lstStyle/>
          <a:p>
            <a:pPr>
              <a:spcAft>
                <a:spcPts val="600"/>
              </a:spcAft>
            </a:pPr>
            <a:r>
              <a:rPr sz="1300" b="0">
                <a:solidFill>
                  <a:srgbClr val="6B7280"/>
                </a:solidFill>
                <a:latin typeface="Aptos"/>
              </a:rPr>
              <a:t>Registro = posición en el archivo exportado del portal, sin contar el encabezado (igual que en el Hito 1).</a:t>
            </a:r>
          </a:p>
        </p:txBody>
      </p:sp>
      <p:sp>
        <p:nvSpPr>
          <p:cNvPr id="8" name="TextBox 7"/>
          <p:cNvSpPr txBox="1"/>
          <p:nvPr/>
        </p:nvSpPr>
        <p:spPr>
          <a:xfrm>
            <a:off x="685800" y="548640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Son hipótesis con evidencia: falta confirmarlas con EPM.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Una fecha de Excel dentro de la serie</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8</a:t>
            </a:r>
          </a:p>
        </p:txBody>
      </p:sp>
      <p:pic>
        <p:nvPicPr>
          <p:cNvPr id="6" name="Picture 5" descr="fig_excel.png"/>
          <p:cNvPicPr>
            <a:picLocks noChangeAspect="1"/>
          </p:cNvPicPr>
          <p:nvPr/>
        </p:nvPicPr>
        <p:blipFill>
          <a:blip r:embed="rId4"/>
          <a:stretch>
            <a:fillRect/>
          </a:stretch>
        </p:blipFill>
        <p:spPr>
          <a:xfrm>
            <a:off x="640080" y="1234440"/>
            <a:ext cx="10881360" cy="3566160"/>
          </a:xfrm>
          <a:prstGeom prst="rect">
            <a:avLst/>
          </a:prstGeom>
        </p:spPr>
      </p:pic>
      <p:sp>
        <p:nvSpPr>
          <p:cNvPr id="7" name="TextBox 6"/>
          <p:cNvSpPr txBox="1"/>
          <p:nvPr/>
        </p:nvSpPr>
        <p:spPr>
          <a:xfrm>
            <a:off x="685800" y="507492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Cargo de distribución, Nivel IV, hora punta (2018–2021)</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Por qué las reglas van antes que las cartas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9</a:t>
            </a:r>
          </a:p>
        </p:txBody>
      </p:sp>
      <p:pic>
        <p:nvPicPr>
          <p:cNvPr id="6" name="Picture 5" descr="fig_contaminacion.png"/>
          <p:cNvPicPr>
            <a:picLocks noChangeAspect="1"/>
          </p:cNvPicPr>
          <p:nvPr/>
        </p:nvPicPr>
        <p:blipFill>
          <a:blip r:embed="rId4"/>
          <a:stretch>
            <a:fillRect/>
          </a:stretch>
        </p:blipFill>
        <p:spPr>
          <a:xfrm>
            <a:off x="640080" y="1234440"/>
            <a:ext cx="10881360" cy="3566160"/>
          </a:xfrm>
          <a:prstGeom prst="rect">
            <a:avLst/>
          </a:prstGeom>
        </p:spPr>
      </p:pic>
      <p:sp>
        <p:nvSpPr>
          <p:cNvPr id="7" name="TextBox 6"/>
          <p:cNvSpPr txBox="1"/>
          <p:nvPr/>
        </p:nvSpPr>
        <p:spPr>
          <a:xfrm>
            <a:off x="685800" y="507492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Un solo error en la referencia deja la carta ciega.</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Los dos modelos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10</a:t>
            </a:r>
          </a:p>
        </p:txBody>
      </p:sp>
      <p:sp>
        <p:nvSpPr>
          <p:cNvPr id="6" name="Rounded Rectangle 5"/>
          <p:cNvSpPr/>
          <p:nvPr/>
        </p:nvSpPr>
        <p:spPr>
          <a:xfrm>
            <a:off x="685800" y="1371600"/>
            <a:ext cx="5257800" cy="27432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960120" y="1600200"/>
            <a:ext cx="457200" cy="457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Aptos"/>
              </a:rPr>
              <a:t>A</a:t>
            </a:r>
          </a:p>
        </p:txBody>
      </p:sp>
      <p:sp>
        <p:nvSpPr>
          <p:cNvPr id="8" name="TextBox 7"/>
          <p:cNvSpPr txBox="1"/>
          <p:nvPr/>
        </p:nvSpPr>
        <p:spPr>
          <a:xfrm>
            <a:off x="1600200" y="1600200"/>
            <a:ext cx="4114800" cy="457200"/>
          </a:xfrm>
          <a:prstGeom prst="rect">
            <a:avLst/>
          </a:prstGeom>
          <a:noFill/>
        </p:spPr>
        <p:txBody>
          <a:bodyPr wrap="square" lIns="36576" rIns="36576" tIns="18288" bIns="18288">
            <a:spAutoFit/>
          </a:bodyPr>
          <a:lstStyle/>
          <a:p>
            <a:pPr>
              <a:spcAft>
                <a:spcPts val="600"/>
              </a:spcAft>
            </a:pPr>
            <a:r>
              <a:rPr sz="2200" b="1">
                <a:solidFill>
                  <a:srgbClr val="1F2937"/>
                </a:solidFill>
                <a:latin typeface="Aptos"/>
              </a:rPr>
              <a:t>Cartas I-MR</a:t>
            </a:r>
          </a:p>
        </p:txBody>
      </p:sp>
      <p:sp>
        <p:nvSpPr>
          <p:cNvPr id="9" name="TextBox 8"/>
          <p:cNvSpPr txBox="1"/>
          <p:nvPr/>
        </p:nvSpPr>
        <p:spPr>
          <a:xfrm>
            <a:off x="1005840" y="2423160"/>
            <a:ext cx="4663440" cy="2194560"/>
          </a:xfrm>
          <a:prstGeom prst="rect">
            <a:avLst/>
          </a:prstGeom>
          <a:noFill/>
        </p:spPr>
        <p:txBody>
          <a:bodyPr wrap="square" lIns="36576" rIns="36576" tIns="18288" bIns="18288">
            <a:spAutoFit/>
          </a:bodyPr>
          <a:lstStyle/>
          <a:p>
            <a:pPr>
              <a:spcAft>
                <a:spcPts val="1200"/>
              </a:spcAft>
            </a:pPr>
            <a:r>
              <a:rPr sz="1900" b="0">
                <a:solidFill>
                  <a:srgbClr val="1F2937"/>
                </a:solidFill>
                <a:latin typeface="Aptos"/>
              </a:rPr>
              <a:t>•  83 series mensuales</a:t>
            </a:r>
          </a:p>
          <a:p>
            <a:pPr>
              <a:spcAft>
                <a:spcPts val="1200"/>
              </a:spcAft>
            </a:pPr>
            <a:r>
              <a:rPr sz="1900" b="0">
                <a:solidFill>
                  <a:srgbClr val="1F2937"/>
                </a:solidFill>
                <a:latin typeface="Aptos"/>
              </a:rPr>
              <a:t>•  Referencia: 2017–2019</a:t>
            </a:r>
          </a:p>
          <a:p>
            <a:pPr>
              <a:spcAft>
                <a:spcPts val="1200"/>
              </a:spcAft>
            </a:pPr>
            <a:r>
              <a:rPr sz="1900" b="0">
                <a:solidFill>
                  <a:srgbClr val="1F2937"/>
                </a:solidFill>
                <a:latin typeface="Aptos"/>
              </a:rPr>
              <a:t>•  Vigilancia: 2020–2021</a:t>
            </a:r>
          </a:p>
        </p:txBody>
      </p:sp>
      <p:sp>
        <p:nvSpPr>
          <p:cNvPr id="10" name="Rounded Rectangle 9"/>
          <p:cNvSpPr/>
          <p:nvPr/>
        </p:nvSpPr>
        <p:spPr>
          <a:xfrm>
            <a:off x="6217920" y="1371600"/>
            <a:ext cx="5257800" cy="27432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492240" y="1600200"/>
            <a:ext cx="457200" cy="45720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1600" b="1">
                <a:solidFill>
                  <a:srgbClr val="FFFFFF"/>
                </a:solidFill>
                <a:latin typeface="Aptos"/>
              </a:rPr>
              <a:t>B</a:t>
            </a:r>
          </a:p>
        </p:txBody>
      </p:sp>
      <p:sp>
        <p:nvSpPr>
          <p:cNvPr id="12" name="TextBox 11"/>
          <p:cNvSpPr txBox="1"/>
          <p:nvPr/>
        </p:nvSpPr>
        <p:spPr>
          <a:xfrm>
            <a:off x="7132320" y="1600200"/>
            <a:ext cx="4114800" cy="457200"/>
          </a:xfrm>
          <a:prstGeom prst="rect">
            <a:avLst/>
          </a:prstGeom>
          <a:noFill/>
        </p:spPr>
        <p:txBody>
          <a:bodyPr wrap="square" lIns="36576" rIns="36576" tIns="18288" bIns="18288">
            <a:spAutoFit/>
          </a:bodyPr>
          <a:lstStyle/>
          <a:p>
            <a:pPr>
              <a:spcAft>
                <a:spcPts val="600"/>
              </a:spcAft>
            </a:pPr>
            <a:r>
              <a:rPr sz="2200" b="1">
                <a:solidFill>
                  <a:srgbClr val="1F2937"/>
                </a:solidFill>
                <a:latin typeface="Aptos"/>
              </a:rPr>
              <a:t>Isolation Forest</a:t>
            </a:r>
          </a:p>
        </p:txBody>
      </p:sp>
      <p:sp>
        <p:nvSpPr>
          <p:cNvPr id="13" name="TextBox 12"/>
          <p:cNvSpPr txBox="1"/>
          <p:nvPr/>
        </p:nvSpPr>
        <p:spPr>
          <a:xfrm>
            <a:off x="6537959" y="2423160"/>
            <a:ext cx="4663440" cy="2194560"/>
          </a:xfrm>
          <a:prstGeom prst="rect">
            <a:avLst/>
          </a:prstGeom>
          <a:noFill/>
        </p:spPr>
        <p:txBody>
          <a:bodyPr wrap="square" lIns="36576" rIns="36576" tIns="18288" bIns="18288">
            <a:spAutoFit/>
          </a:bodyPr>
          <a:lstStyle/>
          <a:p>
            <a:pPr>
              <a:spcAft>
                <a:spcPts val="1200"/>
              </a:spcAft>
            </a:pPr>
            <a:r>
              <a:rPr sz="1900" b="0">
                <a:solidFill>
                  <a:srgbClr val="1F2937"/>
                </a:solidFill>
                <a:latin typeface="Aptos"/>
              </a:rPr>
              <a:t>•  Aprende cómo es un mes normal</a:t>
            </a:r>
          </a:p>
          <a:p>
            <a:pPr>
              <a:spcAft>
                <a:spcPts val="1200"/>
              </a:spcAft>
            </a:pPr>
            <a:r>
              <a:rPr sz="1900" b="0">
                <a:solidFill>
                  <a:srgbClr val="1F2937"/>
                </a:solidFill>
                <a:latin typeface="Aptos"/>
              </a:rPr>
              <a:t>•  Un modelo para todas las series</a:t>
            </a:r>
          </a:p>
          <a:p>
            <a:pPr>
              <a:spcAft>
                <a:spcPts val="1200"/>
              </a:spcAft>
            </a:pPr>
            <a:r>
              <a:rPr sz="1900" b="0">
                <a:solidFill>
                  <a:srgbClr val="1F2937"/>
                </a:solidFill>
                <a:latin typeface="Aptos"/>
              </a:rPr>
              <a:t>•  No necesita ejemplos de errores</a:t>
            </a:r>
          </a:p>
        </p:txBody>
      </p:sp>
      <p:sp>
        <p:nvSpPr>
          <p:cNvPr id="14" name="TextBox 13"/>
          <p:cNvSpPr txBox="1"/>
          <p:nvPr/>
        </p:nvSpPr>
        <p:spPr>
          <a:xfrm>
            <a:off x="685800" y="448056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Comparación justa: misma referencia, mismos errores, misma tasa de alertas.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El código de las cartas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11</a:t>
            </a:r>
          </a:p>
        </p:txBody>
      </p:sp>
      <p:sp>
        <p:nvSpPr>
          <p:cNvPr id="6" name="Rounded Rectangle 5"/>
          <p:cNvSpPr/>
          <p:nvPr/>
        </p:nvSpPr>
        <p:spPr>
          <a:xfrm>
            <a:off x="685800" y="1325880"/>
            <a:ext cx="10789920" cy="3977639"/>
          </a:xfrm>
          <a:prstGeom prst="roundRect">
            <a:avLst>
              <a:gd name="adj" fmla="val 8000"/>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508760"/>
            <a:ext cx="10332720" cy="3657600"/>
          </a:xfrm>
          <a:prstGeom prst="rect">
            <a:avLst/>
          </a:prstGeom>
          <a:noFill/>
        </p:spPr>
        <p:txBody>
          <a:bodyPr wrap="square" lIns="36576" rIns="36576" tIns="18288" bIns="18288">
            <a:spAutoFit/>
          </a:bodyPr>
          <a:lstStyle/>
          <a:p>
            <a:pPr>
              <a:spcAft>
                <a:spcPts val="0"/>
              </a:spcAft>
            </a:pPr>
            <a:r>
              <a:rPr sz="1500" b="0">
                <a:solidFill>
                  <a:srgbClr val="E2E8F0"/>
                </a:solidFill>
                <a:latin typeface="Courier New"/>
              </a:rPr>
              <a:t>def limites(d_ref):</a:t>
            </a:r>
          </a:p>
          <a:p>
            <a:pPr>
              <a:spcAft>
                <a:spcPts val="0"/>
              </a:spcAft>
            </a:pPr>
            <a:r>
              <a:rPr sz="1500" b="0">
                <a:solidFill>
                  <a:srgbClr val="E2E8F0"/>
                </a:solidFill>
                <a:latin typeface="Courier New"/>
              </a:rPr>
              <a:t>    mr = np.abs(np.diff(d_ref)); mrbar = mr.mean(); xbar = d_ref.mean()</a:t>
            </a:r>
          </a:p>
          <a:p>
            <a:pPr>
              <a:spcAft>
                <a:spcPts val="0"/>
              </a:spcAft>
            </a:pPr>
            <a:r>
              <a:rPr sz="1500" b="0">
                <a:solidFill>
                  <a:srgbClr val="E2E8F0"/>
                </a:solidFill>
                <a:latin typeface="Courier New"/>
              </a:rPr>
              <a:t>    return xbar - 2.66*mrbar, xbar + 2.66*mrbar, 3.267*mrbar</a:t>
            </a:r>
          </a:p>
          <a:p>
            <a:pPr>
              <a:spcAft>
                <a:spcPts val="0"/>
              </a:spcAft>
            </a:pPr>
            <a:r>
              <a:rPr sz="1500" b="0">
                <a:solidFill>
                  <a:srgbClr val="E2E8F0"/>
                </a:solidFill>
                <a:latin typeface="Courier New"/>
              </a:rPr>
              <a:t/>
            </a:r>
          </a:p>
          <a:p>
            <a:pPr>
              <a:spcAft>
                <a:spcPts val="0"/>
              </a:spcAft>
            </a:pPr>
            <a:r>
              <a:rPr sz="1500" b="0">
                <a:solidFill>
                  <a:srgbClr val="E2E8F0"/>
                </a:solidFill>
                <a:latin typeface="Courier New"/>
              </a:rPr>
              <a:t>def imr_alertas(v):</a:t>
            </a:r>
          </a:p>
          <a:p>
            <a:pPr>
              <a:spcAft>
                <a:spcPts val="0"/>
              </a:spcAft>
            </a:pPr>
            <a:r>
              <a:rPr sz="1500" b="0">
                <a:solidFill>
                  <a:srgbClr val="E2E8F0"/>
                </a:solidFill>
                <a:latin typeface="Courier New"/>
              </a:rPr>
              <a:t>    d = np.diff(v)                          # cambios mensuales</a:t>
            </a:r>
          </a:p>
          <a:p>
            <a:pPr>
              <a:spcAft>
                <a:spcPts val="0"/>
              </a:spcAft>
            </a:pPr>
            <a:r>
              <a:rPr sz="1500" b="0">
                <a:solidFill>
                  <a:srgbClr val="E2E8F0"/>
                </a:solidFill>
                <a:latin typeface="Courier New"/>
              </a:rPr>
              <a:t>    lcl, ucl, mrucl = limites(d[:36])       # 36 meses de referencia</a:t>
            </a:r>
          </a:p>
          <a:p>
            <a:pPr>
              <a:spcAft>
                <a:spcPts val="0"/>
              </a:spcAft>
            </a:pPr>
            <a:r>
              <a:rPr sz="1500" b="0">
                <a:solidFill>
                  <a:srgbClr val="E2E8F0"/>
                </a:solidFill>
                <a:latin typeface="Courier New"/>
              </a:rPr>
              <a:t>    mr = np.abs(np.diff(d)); alertas = set()</a:t>
            </a:r>
          </a:p>
          <a:p>
            <a:pPr>
              <a:spcAft>
                <a:spcPts val="0"/>
              </a:spcAft>
            </a:pPr>
            <a:r>
              <a:rPr sz="1500" b="0">
                <a:solidFill>
                  <a:srgbClr val="E2E8F0"/>
                </a:solidFill>
                <a:latin typeface="Courier New"/>
              </a:rPr>
              <a:t>    for j in range(36, len(d)):</a:t>
            </a:r>
          </a:p>
          <a:p>
            <a:pPr>
              <a:spcAft>
                <a:spcPts val="0"/>
              </a:spcAft>
            </a:pPr>
            <a:r>
              <a:rPr sz="1500" b="0">
                <a:solidFill>
                  <a:srgbClr val="E2E8F0"/>
                </a:solidFill>
                <a:latin typeface="Courier New"/>
              </a:rPr>
              <a:t>        if d[j] &lt; lcl or d[j] &gt; ucl:  alertas.add(j + 1)   # carta I</a:t>
            </a:r>
          </a:p>
          <a:p>
            <a:pPr>
              <a:spcAft>
                <a:spcPts val="0"/>
              </a:spcAft>
            </a:pPr>
            <a:r>
              <a:rPr sz="1500" b="0">
                <a:solidFill>
                  <a:srgbClr val="E2E8F0"/>
                </a:solidFill>
                <a:latin typeface="Courier New"/>
              </a:rPr>
              <a:t>        if mr[j-1] &gt; mrucl:           alertas.add(j + 1)   # carta MR</a:t>
            </a:r>
          </a:p>
          <a:p>
            <a:pPr>
              <a:spcAft>
                <a:spcPts val="0"/>
              </a:spcAft>
            </a:pPr>
            <a:r>
              <a:rPr sz="1500" b="0">
                <a:solidFill>
                  <a:srgbClr val="E2E8F0"/>
                </a:solidFill>
                <a:latin typeface="Courier New"/>
              </a:rPr>
              <a:t>    return alertas</a:t>
            </a:r>
          </a:p>
        </p:txBody>
      </p:sp>
      <p:sp>
        <p:nvSpPr>
          <p:cNvPr id="8" name="TextBox 7"/>
          <p:cNvSpPr txBox="1"/>
          <p:nvPr/>
        </p:nvSpPr>
        <p:spPr>
          <a:xfrm>
            <a:off x="685800" y="548640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Código completo: hito2.ipynb (Google Colab)</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Cómo evaluamos: errores a propósito</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12</a:t>
            </a:r>
          </a:p>
        </p:txBody>
      </p:sp>
      <p:sp>
        <p:nvSpPr>
          <p:cNvPr id="6" name="Rounded Rectangle 5"/>
          <p:cNvSpPr/>
          <p:nvPr/>
        </p:nvSpPr>
        <p:spPr>
          <a:xfrm>
            <a:off x="685800" y="1417320"/>
            <a:ext cx="2560320" cy="9144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1527048"/>
            <a:ext cx="2286000" cy="411480"/>
          </a:xfrm>
          <a:prstGeom prst="rect">
            <a:avLst/>
          </a:prstGeom>
          <a:noFill/>
        </p:spPr>
        <p:txBody>
          <a:bodyPr wrap="square" lIns="36576" rIns="36576" tIns="18288" bIns="18288">
            <a:spAutoFit/>
          </a:bodyPr>
          <a:lstStyle/>
          <a:p>
            <a:pPr>
              <a:spcAft>
                <a:spcPts val="600"/>
              </a:spcAft>
            </a:pPr>
            <a:r>
              <a:rPr sz="1700" b="1">
                <a:solidFill>
                  <a:srgbClr val="1F2937"/>
                </a:solidFill>
                <a:latin typeface="Aptos"/>
              </a:rPr>
              <a:t>Coma decimal</a:t>
            </a:r>
          </a:p>
        </p:txBody>
      </p:sp>
      <p:sp>
        <p:nvSpPr>
          <p:cNvPr id="8" name="TextBox 7"/>
          <p:cNvSpPr txBox="1"/>
          <p:nvPr/>
        </p:nvSpPr>
        <p:spPr>
          <a:xfrm>
            <a:off x="868680" y="1947672"/>
            <a:ext cx="2286000" cy="320040"/>
          </a:xfrm>
          <a:prstGeom prst="rect">
            <a:avLst/>
          </a:prstGeom>
          <a:noFill/>
        </p:spPr>
        <p:txBody>
          <a:bodyPr wrap="square" lIns="36576" rIns="36576" tIns="18288" bIns="18288">
            <a:spAutoFit/>
          </a:bodyPr>
          <a:lstStyle/>
          <a:p>
            <a:pPr>
              <a:spcAft>
                <a:spcPts val="600"/>
              </a:spcAft>
            </a:pPr>
            <a:r>
              <a:rPr sz="1300" b="0">
                <a:solidFill>
                  <a:srgbClr val="2A78D6"/>
                </a:solidFill>
                <a:latin typeface="Aptos"/>
              </a:rPr>
              <a:t>Visto en los datos</a:t>
            </a:r>
          </a:p>
        </p:txBody>
      </p:sp>
      <p:sp>
        <p:nvSpPr>
          <p:cNvPr id="9" name="Rounded Rectangle 8"/>
          <p:cNvSpPr/>
          <p:nvPr/>
        </p:nvSpPr>
        <p:spPr>
          <a:xfrm>
            <a:off x="3429000" y="1417320"/>
            <a:ext cx="2560320" cy="9144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527048"/>
            <a:ext cx="2286000" cy="411480"/>
          </a:xfrm>
          <a:prstGeom prst="rect">
            <a:avLst/>
          </a:prstGeom>
          <a:noFill/>
        </p:spPr>
        <p:txBody>
          <a:bodyPr wrap="square" lIns="36576" rIns="36576" tIns="18288" bIns="18288">
            <a:spAutoFit/>
          </a:bodyPr>
          <a:lstStyle/>
          <a:p>
            <a:pPr>
              <a:spcAft>
                <a:spcPts val="600"/>
              </a:spcAft>
            </a:pPr>
            <a:r>
              <a:rPr sz="1700" b="1">
                <a:solidFill>
                  <a:srgbClr val="1F2937"/>
                </a:solidFill>
                <a:latin typeface="Aptos"/>
              </a:rPr>
              <a:t>Fecha de Excel</a:t>
            </a:r>
          </a:p>
        </p:txBody>
      </p:sp>
      <p:sp>
        <p:nvSpPr>
          <p:cNvPr id="11" name="TextBox 10"/>
          <p:cNvSpPr txBox="1"/>
          <p:nvPr/>
        </p:nvSpPr>
        <p:spPr>
          <a:xfrm>
            <a:off x="3611880" y="1947672"/>
            <a:ext cx="2286000" cy="320040"/>
          </a:xfrm>
          <a:prstGeom prst="rect">
            <a:avLst/>
          </a:prstGeom>
          <a:noFill/>
        </p:spPr>
        <p:txBody>
          <a:bodyPr wrap="square" lIns="36576" rIns="36576" tIns="18288" bIns="18288">
            <a:spAutoFit/>
          </a:bodyPr>
          <a:lstStyle/>
          <a:p>
            <a:pPr>
              <a:spcAft>
                <a:spcPts val="600"/>
              </a:spcAft>
            </a:pPr>
            <a:r>
              <a:rPr sz="1300" b="0">
                <a:solidFill>
                  <a:srgbClr val="2A78D6"/>
                </a:solidFill>
                <a:latin typeface="Aptos"/>
              </a:rPr>
              <a:t>Visto en los datos</a:t>
            </a:r>
          </a:p>
        </p:txBody>
      </p:sp>
      <p:sp>
        <p:nvSpPr>
          <p:cNvPr id="12" name="Rounded Rectangle 11"/>
          <p:cNvSpPr/>
          <p:nvPr/>
        </p:nvSpPr>
        <p:spPr>
          <a:xfrm>
            <a:off x="6172200" y="1417320"/>
            <a:ext cx="2560320" cy="9144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1527048"/>
            <a:ext cx="2286000" cy="411480"/>
          </a:xfrm>
          <a:prstGeom prst="rect">
            <a:avLst/>
          </a:prstGeom>
          <a:noFill/>
        </p:spPr>
        <p:txBody>
          <a:bodyPr wrap="square" lIns="36576" rIns="36576" tIns="18288" bIns="18288">
            <a:spAutoFit/>
          </a:bodyPr>
          <a:lstStyle/>
          <a:p>
            <a:pPr>
              <a:spcAft>
                <a:spcPts val="600"/>
              </a:spcAft>
            </a:pPr>
            <a:r>
              <a:rPr sz="1700" b="1">
                <a:solidFill>
                  <a:srgbClr val="1F2937"/>
                </a:solidFill>
                <a:latin typeface="Aptos"/>
              </a:rPr>
              <a:t>Columna cambiada</a:t>
            </a:r>
          </a:p>
        </p:txBody>
      </p:sp>
      <p:sp>
        <p:nvSpPr>
          <p:cNvPr id="14" name="TextBox 13"/>
          <p:cNvSpPr txBox="1"/>
          <p:nvPr/>
        </p:nvSpPr>
        <p:spPr>
          <a:xfrm>
            <a:off x="6355080" y="1947672"/>
            <a:ext cx="2286000" cy="320040"/>
          </a:xfrm>
          <a:prstGeom prst="rect">
            <a:avLst/>
          </a:prstGeom>
          <a:noFill/>
        </p:spPr>
        <p:txBody>
          <a:bodyPr wrap="square" lIns="36576" rIns="36576" tIns="18288" bIns="18288">
            <a:spAutoFit/>
          </a:bodyPr>
          <a:lstStyle/>
          <a:p>
            <a:pPr>
              <a:spcAft>
                <a:spcPts val="600"/>
              </a:spcAft>
            </a:pPr>
            <a:r>
              <a:rPr sz="1300" b="0">
                <a:solidFill>
                  <a:srgbClr val="2A78D6"/>
                </a:solidFill>
                <a:latin typeface="Aptos"/>
              </a:rPr>
              <a:t>Visto en los datos</a:t>
            </a:r>
          </a:p>
        </p:txBody>
      </p:sp>
      <p:sp>
        <p:nvSpPr>
          <p:cNvPr id="15" name="Rounded Rectangle 14"/>
          <p:cNvSpPr/>
          <p:nvPr/>
        </p:nvSpPr>
        <p:spPr>
          <a:xfrm>
            <a:off x="685800" y="2468880"/>
            <a:ext cx="2560320" cy="9144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2578608"/>
            <a:ext cx="2286000" cy="411480"/>
          </a:xfrm>
          <a:prstGeom prst="rect">
            <a:avLst/>
          </a:prstGeom>
          <a:noFill/>
        </p:spPr>
        <p:txBody>
          <a:bodyPr wrap="square" lIns="36576" rIns="36576" tIns="18288" bIns="18288">
            <a:spAutoFit/>
          </a:bodyPr>
          <a:lstStyle/>
          <a:p>
            <a:pPr>
              <a:spcAft>
                <a:spcPts val="600"/>
              </a:spcAft>
            </a:pPr>
            <a:r>
              <a:rPr sz="1700" b="1">
                <a:solidFill>
                  <a:srgbClr val="1F2937"/>
                </a:solidFill>
                <a:latin typeface="Aptos"/>
              </a:rPr>
              <a:t>Signo invertido</a:t>
            </a:r>
          </a:p>
        </p:txBody>
      </p:sp>
      <p:sp>
        <p:nvSpPr>
          <p:cNvPr id="17" name="TextBox 16"/>
          <p:cNvSpPr txBox="1"/>
          <p:nvPr/>
        </p:nvSpPr>
        <p:spPr>
          <a:xfrm>
            <a:off x="868680" y="2999232"/>
            <a:ext cx="2286000" cy="320040"/>
          </a:xfrm>
          <a:prstGeom prst="rect">
            <a:avLst/>
          </a:prstGeom>
          <a:noFill/>
        </p:spPr>
        <p:txBody>
          <a:bodyPr wrap="square" lIns="36576" rIns="36576" tIns="18288" bIns="18288">
            <a:spAutoFit/>
          </a:bodyPr>
          <a:lstStyle/>
          <a:p>
            <a:pPr>
              <a:spcAft>
                <a:spcPts val="600"/>
              </a:spcAft>
            </a:pPr>
            <a:r>
              <a:rPr sz="1300" b="0">
                <a:solidFill>
                  <a:srgbClr val="6B7280"/>
                </a:solidFill>
                <a:latin typeface="Aptos"/>
              </a:rPr>
              <a:t>Error típico</a:t>
            </a:r>
          </a:p>
        </p:txBody>
      </p:sp>
      <p:sp>
        <p:nvSpPr>
          <p:cNvPr id="18" name="Rounded Rectangle 17"/>
          <p:cNvSpPr/>
          <p:nvPr/>
        </p:nvSpPr>
        <p:spPr>
          <a:xfrm>
            <a:off x="3429000" y="2468880"/>
            <a:ext cx="2560320" cy="9144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11880" y="2578608"/>
            <a:ext cx="2286000" cy="411480"/>
          </a:xfrm>
          <a:prstGeom prst="rect">
            <a:avLst/>
          </a:prstGeom>
          <a:noFill/>
        </p:spPr>
        <p:txBody>
          <a:bodyPr wrap="square" lIns="36576" rIns="36576" tIns="18288" bIns="18288">
            <a:spAutoFit/>
          </a:bodyPr>
          <a:lstStyle/>
          <a:p>
            <a:pPr>
              <a:spcAft>
                <a:spcPts val="600"/>
              </a:spcAft>
            </a:pPr>
            <a:r>
              <a:rPr sz="1700" b="1">
                <a:solidFill>
                  <a:srgbClr val="1F2937"/>
                </a:solidFill>
                <a:latin typeface="Aptos"/>
              </a:rPr>
              <a:t>Desviación 10 %</a:t>
            </a:r>
          </a:p>
        </p:txBody>
      </p:sp>
      <p:sp>
        <p:nvSpPr>
          <p:cNvPr id="20" name="TextBox 19"/>
          <p:cNvSpPr txBox="1"/>
          <p:nvPr/>
        </p:nvSpPr>
        <p:spPr>
          <a:xfrm>
            <a:off x="3611880" y="2999232"/>
            <a:ext cx="2286000" cy="320040"/>
          </a:xfrm>
          <a:prstGeom prst="rect">
            <a:avLst/>
          </a:prstGeom>
          <a:noFill/>
        </p:spPr>
        <p:txBody>
          <a:bodyPr wrap="square" lIns="36576" rIns="36576" tIns="18288" bIns="18288">
            <a:spAutoFit/>
          </a:bodyPr>
          <a:lstStyle/>
          <a:p>
            <a:pPr>
              <a:spcAft>
                <a:spcPts val="600"/>
              </a:spcAft>
            </a:pPr>
            <a:r>
              <a:rPr sz="1300" b="0">
                <a:solidFill>
                  <a:srgbClr val="6B7280"/>
                </a:solidFill>
                <a:latin typeface="Aptos"/>
              </a:rPr>
              <a:t>Error típico</a:t>
            </a:r>
          </a:p>
        </p:txBody>
      </p:sp>
      <p:sp>
        <p:nvSpPr>
          <p:cNvPr id="21" name="Rounded Rectangle 20"/>
          <p:cNvSpPr/>
          <p:nvPr/>
        </p:nvSpPr>
        <p:spPr>
          <a:xfrm>
            <a:off x="6172200" y="2468880"/>
            <a:ext cx="2560320" cy="914400"/>
          </a:xfrm>
          <a:prstGeom prst="roundRect">
            <a:avLst>
              <a:gd name="adj" fmla="val 8000"/>
            </a:avLst>
          </a:prstGeom>
          <a:solidFill>
            <a:srgbClr val="F3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55080" y="2578608"/>
            <a:ext cx="2286000" cy="411480"/>
          </a:xfrm>
          <a:prstGeom prst="rect">
            <a:avLst/>
          </a:prstGeom>
          <a:noFill/>
        </p:spPr>
        <p:txBody>
          <a:bodyPr wrap="square" lIns="36576" rIns="36576" tIns="18288" bIns="18288">
            <a:spAutoFit/>
          </a:bodyPr>
          <a:lstStyle/>
          <a:p>
            <a:pPr>
              <a:spcAft>
                <a:spcPts val="600"/>
              </a:spcAft>
            </a:pPr>
            <a:r>
              <a:rPr sz="1700" b="1">
                <a:solidFill>
                  <a:srgbClr val="1F2937"/>
                </a:solidFill>
                <a:latin typeface="Aptos"/>
              </a:rPr>
              <a:t>Valor sin actualizar</a:t>
            </a:r>
          </a:p>
        </p:txBody>
      </p:sp>
      <p:sp>
        <p:nvSpPr>
          <p:cNvPr id="23" name="TextBox 22"/>
          <p:cNvSpPr txBox="1"/>
          <p:nvPr/>
        </p:nvSpPr>
        <p:spPr>
          <a:xfrm>
            <a:off x="6355080" y="2999232"/>
            <a:ext cx="2286000" cy="320040"/>
          </a:xfrm>
          <a:prstGeom prst="rect">
            <a:avLst/>
          </a:prstGeom>
          <a:noFill/>
        </p:spPr>
        <p:txBody>
          <a:bodyPr wrap="square" lIns="36576" rIns="36576" tIns="18288" bIns="18288">
            <a:spAutoFit/>
          </a:bodyPr>
          <a:lstStyle/>
          <a:p>
            <a:pPr>
              <a:spcAft>
                <a:spcPts val="600"/>
              </a:spcAft>
            </a:pPr>
            <a:r>
              <a:rPr sz="1300" b="0">
                <a:solidFill>
                  <a:srgbClr val="6B7280"/>
                </a:solidFill>
                <a:latin typeface="Aptos"/>
              </a:rPr>
              <a:t>Error típico</a:t>
            </a:r>
          </a:p>
        </p:txBody>
      </p:sp>
      <p:sp>
        <p:nvSpPr>
          <p:cNvPr id="24" name="TextBox 23"/>
          <p:cNvSpPr txBox="1"/>
          <p:nvPr/>
        </p:nvSpPr>
        <p:spPr>
          <a:xfrm>
            <a:off x="8595360" y="1371600"/>
            <a:ext cx="1828800" cy="640080"/>
          </a:xfrm>
          <a:prstGeom prst="rect">
            <a:avLst/>
          </a:prstGeom>
          <a:noFill/>
        </p:spPr>
        <p:txBody>
          <a:bodyPr wrap="square" lIns="36576" rIns="36576" tIns="18288" bIns="18288">
            <a:spAutoFit/>
          </a:bodyPr>
          <a:lstStyle/>
          <a:p>
            <a:pPr algn="r">
              <a:spcAft>
                <a:spcPts val="600"/>
              </a:spcAft>
            </a:pPr>
            <a:r>
              <a:rPr sz="3400" b="1">
                <a:solidFill>
                  <a:srgbClr val="084B76"/>
                </a:solidFill>
                <a:latin typeface="Aptos Serif"/>
              </a:rPr>
              <a:t>77</a:t>
            </a:r>
          </a:p>
        </p:txBody>
      </p:sp>
      <p:sp>
        <p:nvSpPr>
          <p:cNvPr id="25" name="TextBox 24"/>
          <p:cNvSpPr txBox="1"/>
          <p:nvPr/>
        </p:nvSpPr>
        <p:spPr>
          <a:xfrm>
            <a:off x="10515600" y="1572768"/>
            <a:ext cx="1463040" cy="457200"/>
          </a:xfrm>
          <a:prstGeom prst="rect">
            <a:avLst/>
          </a:prstGeom>
          <a:noFill/>
        </p:spPr>
        <p:txBody>
          <a:bodyPr wrap="square" lIns="36576" rIns="36576" tIns="18288" bIns="18288">
            <a:spAutoFit/>
          </a:bodyPr>
          <a:lstStyle/>
          <a:p>
            <a:pPr>
              <a:spcAft>
                <a:spcPts val="600"/>
              </a:spcAft>
            </a:pPr>
            <a:r>
              <a:rPr sz="1500" b="0">
                <a:solidFill>
                  <a:srgbClr val="6B7280"/>
                </a:solidFill>
                <a:latin typeface="Aptos"/>
              </a:rPr>
              <a:t>series</a:t>
            </a:r>
          </a:p>
        </p:txBody>
      </p:sp>
      <p:sp>
        <p:nvSpPr>
          <p:cNvPr id="26" name="TextBox 25"/>
          <p:cNvSpPr txBox="1"/>
          <p:nvPr/>
        </p:nvSpPr>
        <p:spPr>
          <a:xfrm>
            <a:off x="8595360" y="2423160"/>
            <a:ext cx="1828800" cy="640080"/>
          </a:xfrm>
          <a:prstGeom prst="rect">
            <a:avLst/>
          </a:prstGeom>
          <a:noFill/>
        </p:spPr>
        <p:txBody>
          <a:bodyPr wrap="square" lIns="36576" rIns="36576" tIns="18288" bIns="18288">
            <a:spAutoFit/>
          </a:bodyPr>
          <a:lstStyle/>
          <a:p>
            <a:pPr algn="r">
              <a:spcAft>
                <a:spcPts val="600"/>
              </a:spcAft>
            </a:pPr>
            <a:r>
              <a:rPr sz="3400" b="1">
                <a:solidFill>
                  <a:srgbClr val="084B76"/>
                </a:solidFill>
                <a:latin typeface="Aptos Serif"/>
              </a:rPr>
              <a:t>6</a:t>
            </a:r>
          </a:p>
        </p:txBody>
      </p:sp>
      <p:sp>
        <p:nvSpPr>
          <p:cNvPr id="27" name="TextBox 26"/>
          <p:cNvSpPr txBox="1"/>
          <p:nvPr/>
        </p:nvSpPr>
        <p:spPr>
          <a:xfrm>
            <a:off x="10515600" y="2624328"/>
            <a:ext cx="1463040" cy="457200"/>
          </a:xfrm>
          <a:prstGeom prst="rect">
            <a:avLst/>
          </a:prstGeom>
          <a:noFill/>
        </p:spPr>
        <p:txBody>
          <a:bodyPr wrap="square" lIns="36576" rIns="36576" tIns="18288" bIns="18288">
            <a:spAutoFit/>
          </a:bodyPr>
          <a:lstStyle/>
          <a:p>
            <a:pPr>
              <a:spcAft>
                <a:spcPts val="600"/>
              </a:spcAft>
            </a:pPr>
            <a:r>
              <a:rPr sz="1500" b="0">
                <a:solidFill>
                  <a:srgbClr val="6B7280"/>
                </a:solidFill>
                <a:latin typeface="Aptos"/>
              </a:rPr>
              <a:t>tipos de error</a:t>
            </a:r>
          </a:p>
        </p:txBody>
      </p:sp>
      <p:sp>
        <p:nvSpPr>
          <p:cNvPr id="28" name="TextBox 27"/>
          <p:cNvSpPr txBox="1"/>
          <p:nvPr/>
        </p:nvSpPr>
        <p:spPr>
          <a:xfrm>
            <a:off x="8595360" y="3474720"/>
            <a:ext cx="1828800" cy="640080"/>
          </a:xfrm>
          <a:prstGeom prst="rect">
            <a:avLst/>
          </a:prstGeom>
          <a:noFill/>
        </p:spPr>
        <p:txBody>
          <a:bodyPr wrap="square" lIns="36576" rIns="36576" tIns="18288" bIns="18288">
            <a:spAutoFit/>
          </a:bodyPr>
          <a:lstStyle/>
          <a:p>
            <a:pPr algn="r">
              <a:spcAft>
                <a:spcPts val="600"/>
              </a:spcAft>
            </a:pPr>
            <a:r>
              <a:rPr sz="3400" b="1">
                <a:solidFill>
                  <a:srgbClr val="084B76"/>
                </a:solidFill>
                <a:latin typeface="Aptos Serif"/>
              </a:rPr>
              <a:t>8.282</a:t>
            </a:r>
          </a:p>
        </p:txBody>
      </p:sp>
      <p:sp>
        <p:nvSpPr>
          <p:cNvPr id="29" name="TextBox 28"/>
          <p:cNvSpPr txBox="1"/>
          <p:nvPr/>
        </p:nvSpPr>
        <p:spPr>
          <a:xfrm>
            <a:off x="10515600" y="3675887"/>
            <a:ext cx="1463040" cy="457200"/>
          </a:xfrm>
          <a:prstGeom prst="rect">
            <a:avLst/>
          </a:prstGeom>
          <a:noFill/>
        </p:spPr>
        <p:txBody>
          <a:bodyPr wrap="square" lIns="36576" rIns="36576" tIns="18288" bIns="18288">
            <a:spAutoFit/>
          </a:bodyPr>
          <a:lstStyle/>
          <a:p>
            <a:pPr>
              <a:spcAft>
                <a:spcPts val="600"/>
              </a:spcAft>
            </a:pPr>
            <a:r>
              <a:rPr sz="1500" b="0">
                <a:solidFill>
                  <a:srgbClr val="6B7280"/>
                </a:solidFill>
                <a:latin typeface="Aptos"/>
              </a:rPr>
              <a:t>pruebas</a:t>
            </a:r>
          </a:p>
        </p:txBody>
      </p:sp>
      <p:sp>
        <p:nvSpPr>
          <p:cNvPr id="30" name="TextBox 29"/>
          <p:cNvSpPr txBox="1"/>
          <p:nvPr/>
        </p:nvSpPr>
        <p:spPr>
          <a:xfrm>
            <a:off x="685800" y="420624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Todos los métodos se prueban con los mismos errores.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Resultados: % de errores detectados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13</a:t>
            </a:r>
          </a:p>
        </p:txBody>
      </p:sp>
      <p:graphicFrame>
        <p:nvGraphicFramePr>
          <p:cNvPr id="6" name="Chart 5"/>
          <p:cNvGraphicFramePr>
            <a:graphicFrameLocks noGrp="1"/>
          </p:cNvGraphicFramePr>
          <p:nvPr/>
        </p:nvGraphicFramePr>
        <p:xfrm>
          <a:off x="548640" y="1188720"/>
          <a:ext cx="11064240" cy="4206240"/>
        </p:xfrm>
        <a:graphic>
          <a:graphicData uri="http://schemas.openxmlformats.org/drawingml/2006/chart">
            <c:chart xmlns:c="http://schemas.openxmlformats.org/drawingml/2006/chart" r:id="rId4"/>
          </a:graphicData>
        </a:graphic>
      </p:graphicFrame>
      <p:sp>
        <p:nvSpPr>
          <p:cNvPr id="7" name="TextBox 6"/>
          <p:cNvSpPr txBox="1"/>
          <p:nvPr/>
        </p:nvSpPr>
        <p:spPr>
          <a:xfrm>
            <a:off x="685800" y="553212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Cartas e Isolation Forest empatan (80 %). Reglas + cartas: 88 %.</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Muchas alertas caen en el mismo mes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14</a:t>
            </a:r>
          </a:p>
        </p:txBody>
      </p:sp>
      <p:graphicFrame>
        <p:nvGraphicFramePr>
          <p:cNvPr id="6" name="Chart 5"/>
          <p:cNvGraphicFramePr>
            <a:graphicFrameLocks noGrp="1"/>
          </p:cNvGraphicFramePr>
          <p:nvPr/>
        </p:nvGraphicFramePr>
        <p:xfrm>
          <a:off x="548640" y="1188720"/>
          <a:ext cx="7863840" cy="4114800"/>
        </p:xfrm>
        <a:graphic>
          <a:graphicData uri="http://schemas.openxmlformats.org/drawingml/2006/chart">
            <c:chart xmlns:c="http://schemas.openxmlformats.org/drawingml/2006/chart" r:id="rId4"/>
          </a:graphicData>
        </a:graphic>
      </p:graphicFrame>
      <p:sp>
        <p:nvSpPr>
          <p:cNvPr id="7" name="TextBox 6"/>
          <p:cNvSpPr txBox="1"/>
          <p:nvPr/>
        </p:nvSpPr>
        <p:spPr>
          <a:xfrm>
            <a:off x="8778240" y="1737360"/>
            <a:ext cx="2926080" cy="914400"/>
          </a:xfrm>
          <a:prstGeom prst="rect">
            <a:avLst/>
          </a:prstGeom>
          <a:noFill/>
        </p:spPr>
        <p:txBody>
          <a:bodyPr wrap="square" lIns="36576" rIns="36576" tIns="18288" bIns="18288">
            <a:spAutoFit/>
          </a:bodyPr>
          <a:lstStyle/>
          <a:p>
            <a:pPr>
              <a:spcAft>
                <a:spcPts val="600"/>
              </a:spcAft>
            </a:pPr>
            <a:r>
              <a:rPr sz="4600" b="1">
                <a:solidFill>
                  <a:srgbClr val="2A78D6"/>
                </a:solidFill>
                <a:latin typeface="Aptos Serif"/>
              </a:rPr>
              <a:t>51 de 83</a:t>
            </a:r>
          </a:p>
        </p:txBody>
      </p:sp>
      <p:sp>
        <p:nvSpPr>
          <p:cNvPr id="8" name="TextBox 7"/>
          <p:cNvSpPr txBox="1"/>
          <p:nvPr/>
        </p:nvSpPr>
        <p:spPr>
          <a:xfrm>
            <a:off x="8778240" y="2743200"/>
            <a:ext cx="2926080" cy="1371600"/>
          </a:xfrm>
          <a:prstGeom prst="rect">
            <a:avLst/>
          </a:prstGeom>
          <a:noFill/>
        </p:spPr>
        <p:txBody>
          <a:bodyPr wrap="square" lIns="36576" rIns="36576" tIns="18288" bIns="18288">
            <a:spAutoFit/>
          </a:bodyPr>
          <a:lstStyle/>
          <a:p>
            <a:pPr>
              <a:spcAft>
                <a:spcPts val="600"/>
              </a:spcAft>
            </a:pPr>
            <a:r>
              <a:rPr sz="1900" b="0">
                <a:solidFill>
                  <a:srgbClr val="1F2937"/>
                </a:solidFill>
                <a:latin typeface="Aptos"/>
              </a:rPr>
              <a:t>series alertan en febrero de 2020</a:t>
            </a:r>
          </a:p>
        </p:txBody>
      </p:sp>
      <p:sp>
        <p:nvSpPr>
          <p:cNvPr id="9" name="TextBox 8"/>
          <p:cNvSpPr txBox="1"/>
          <p:nvPr/>
        </p:nvSpPr>
        <p:spPr>
          <a:xfrm>
            <a:off x="685800" y="553212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Parece un cambio de tarifas, no un error. Lo vamos a separar.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Dificultades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15</a:t>
            </a:r>
          </a:p>
        </p:txBody>
      </p:sp>
      <p:graphicFrame>
        <p:nvGraphicFramePr>
          <p:cNvPr id="6" name="Table 5"/>
          <p:cNvGraphicFramePr>
            <a:graphicFrameLocks noGrp="1"/>
          </p:cNvGraphicFramePr>
          <p:nvPr/>
        </p:nvGraphicFramePr>
        <p:xfrm>
          <a:off x="685800" y="1325880"/>
          <a:ext cx="10789920" cy="3200400"/>
        </p:xfrm>
        <a:graphic>
          <a:graphicData uri="http://schemas.openxmlformats.org/drawingml/2006/table">
            <a:tbl>
              <a:tblPr firstRow="0" bandRow="0">
                <a:tableStyleId>{2D5ABB26-0587-4C30-8999-92F81FD0307C}</a:tableStyleId>
              </a:tblPr>
              <a:tblGrid>
                <a:gridCol w="4937760"/>
                <a:gridCol w="5852160"/>
              </a:tblGrid>
              <a:tr h="640080">
                <a:tc>
                  <a:txBody>
                    <a:bodyPr/>
                    <a:lstStyle/>
                    <a:p>
                      <a:r>
                        <a:rPr sz="1400" b="1">
                          <a:solidFill>
                            <a:srgbClr val="6B7280"/>
                          </a:solidFill>
                          <a:latin typeface="Aptos"/>
                        </a:rPr>
                        <a:t>Dificultad</a:t>
                      </a:r>
                    </a:p>
                  </a:txBody>
                  <a:tcPr marL="45720" marR="73152" anchor="ctr">
                    <a:lnB w="19050" cap="flat" cmpd="sng" algn="ctr">
                      <a:solidFill>
                        <a:srgbClr val="084B76"/>
                      </a:solidFill>
                    </a:lnB>
                    <a:lnT w="0" cap="flat" cmpd="sng" algn="ctr">
                      <a:noFill/>
                    </a:lnT>
                    <a:lnR w="0" cap="flat" cmpd="sng" algn="ctr">
                      <a:noFill/>
                    </a:lnR>
                    <a:lnL w="0" cap="flat" cmpd="sng" algn="ctr">
                      <a:noFill/>
                    </a:lnL>
                    <a:noFill/>
                  </a:tcPr>
                </a:tc>
                <a:tc>
                  <a:txBody>
                    <a:bodyPr/>
                    <a:lstStyle/>
                    <a:p>
                      <a:r>
                        <a:rPr sz="1400" b="1">
                          <a:solidFill>
                            <a:srgbClr val="6B7280"/>
                          </a:solidFill>
                          <a:latin typeface="Aptos"/>
                        </a:rPr>
                        <a:t>Qué haremos</a:t>
                      </a:r>
                    </a:p>
                  </a:txBody>
                  <a:tcPr marL="109728" marR="73152" anchor="ctr">
                    <a:lnB w="19050" cap="flat" cmpd="sng" algn="ctr">
                      <a:solidFill>
                        <a:srgbClr val="084B76"/>
                      </a:solidFill>
                    </a:lnB>
                    <a:lnT w="0" cap="flat" cmpd="sng" algn="ctr">
                      <a:noFill/>
                    </a:lnT>
                    <a:lnR w="0" cap="flat" cmpd="sng" algn="ctr">
                      <a:noFill/>
                    </a:lnR>
                    <a:lnL w="0" cap="flat" cmpd="sng" algn="ctr">
                      <a:noFill/>
                    </a:lnL>
                    <a:noFill/>
                  </a:tcPr>
                </a:tc>
              </a:tr>
              <a:tr h="640080">
                <a:tc>
                  <a:txBody>
                    <a:bodyPr/>
                    <a:lstStyle/>
                    <a:p>
                      <a:r>
                        <a:rPr sz="1800" b="0">
                          <a:solidFill>
                            <a:srgbClr val="1F2937"/>
                          </a:solidFill>
                          <a:latin typeface="Aptos"/>
                        </a:rPr>
                        <a:t>Muchas alertas en 2020 (11 %)</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800" b="0">
                          <a:solidFill>
                            <a:srgbClr val="1F2937"/>
                          </a:solidFill>
                          <a:latin typeface="Aptos"/>
                        </a:rPr>
                        <a:t>Separar los cambios que afectan a muchas series</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640080">
                <a:tc>
                  <a:txBody>
                    <a:bodyPr/>
                    <a:lstStyle/>
                    <a:p>
                      <a:r>
                        <a:rPr sz="1800" b="0">
                          <a:solidFill>
                            <a:srgbClr val="1F2937"/>
                          </a:solidFill>
                          <a:latin typeface="Aptos"/>
                        </a:rPr>
                        <a:t>Categorías que cambian de nombre</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800" b="0">
                          <a:solidFill>
                            <a:srgbClr val="1F2937"/>
                          </a:solidFill>
                          <a:latin typeface="Aptos"/>
                        </a:rPr>
                        <a:t>Unir las series con una regla documentada</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640080">
                <a:tc>
                  <a:txBody>
                    <a:bodyPr/>
                    <a:lstStyle/>
                    <a:p>
                      <a:r>
                        <a:rPr sz="1800" b="0">
                          <a:solidFill>
                            <a:srgbClr val="1F2937"/>
                          </a:solidFill>
                          <a:latin typeface="Aptos"/>
                        </a:rPr>
                        <a:t>El valor sin actualizar casi no se detecta</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800" b="0">
                          <a:solidFill>
                            <a:srgbClr val="1F2937"/>
                          </a:solidFill>
                          <a:latin typeface="Aptos"/>
                        </a:rPr>
                        <a:t>Comparar con series parecidas</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r h="640080">
                <a:tc>
                  <a:txBody>
                    <a:bodyPr/>
                    <a:lstStyle/>
                    <a:p>
                      <a:r>
                        <a:rPr sz="1800" b="0">
                          <a:solidFill>
                            <a:srgbClr val="1F2937"/>
                          </a:solidFill>
                          <a:latin typeface="Aptos"/>
                        </a:rPr>
                        <a:t>Errores aún sin confirmar</a:t>
                      </a:r>
                    </a:p>
                  </a:txBody>
                  <a:tcPr marL="45720" marR="73152" anchor="ctr">
                    <a:lnB w="9525" cap="flat" cmpd="sng" algn="ctr">
                      <a:solidFill>
                        <a:srgbClr val="E5E7EB"/>
                      </a:solidFill>
                    </a:lnB>
                    <a:lnT w="0" cap="flat" cmpd="sng" algn="ctr">
                      <a:noFill/>
                    </a:lnT>
                    <a:lnR w="0" cap="flat" cmpd="sng" algn="ctr">
                      <a:noFill/>
                    </a:lnR>
                    <a:lnL w="0" cap="flat" cmpd="sng" algn="ctr">
                      <a:noFill/>
                    </a:lnL>
                    <a:noFill/>
                  </a:tcPr>
                </a:tc>
                <a:tc>
                  <a:txBody>
                    <a:bodyPr/>
                    <a:lstStyle/>
                    <a:p>
                      <a:r>
                        <a:rPr sz="1800" b="0">
                          <a:solidFill>
                            <a:srgbClr val="1F2937"/>
                          </a:solidFill>
                          <a:latin typeface="Aptos"/>
                        </a:rPr>
                        <a:t>Revisar las publicaciones de EPM</a:t>
                      </a:r>
                    </a:p>
                  </a:txBody>
                  <a:tcPr marL="109728" marR="73152" anchor="ctr">
                    <a:lnB w="9525" cap="flat" cmpd="sng" algn="ctr">
                      <a:solidFill>
                        <a:srgbClr val="E5E7EB"/>
                      </a:solidFill>
                    </a:lnB>
                    <a:lnT w="0" cap="flat" cmpd="sng" algn="ctr">
                      <a:noFill/>
                    </a:lnT>
                    <a:lnR w="0" cap="flat" cmpd="sng" algn="ctr">
                      <a:noFill/>
                    </a:lnR>
                    <a:lnL w="0" cap="flat" cmpd="sng" algn="ctr">
                      <a:noFill/>
                    </a:lnL>
                    <a:noFill/>
                  </a:tcPr>
                </a:tc>
              </a:tr>
            </a:tbl>
          </a:graphicData>
        </a:graphic>
      </p:graphicFrame>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Próximos compromisos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16</a:t>
            </a:r>
          </a:p>
        </p:txBody>
      </p:sp>
      <p:sp>
        <p:nvSpPr>
          <p:cNvPr id="6" name="Oval 5"/>
          <p:cNvSpPr/>
          <p:nvPr/>
        </p:nvSpPr>
        <p:spPr>
          <a:xfrm>
            <a:off x="685800" y="1463040"/>
            <a:ext cx="640080" cy="64008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Aptos"/>
              </a:rPr>
              <a:t>1</a:t>
            </a:r>
          </a:p>
        </p:txBody>
      </p:sp>
      <p:sp>
        <p:nvSpPr>
          <p:cNvPr id="7" name="TextBox 6"/>
          <p:cNvSpPr txBox="1"/>
          <p:nvPr/>
        </p:nvSpPr>
        <p:spPr>
          <a:xfrm>
            <a:off x="1508760" y="1536192"/>
            <a:ext cx="2651760" cy="548640"/>
          </a:xfrm>
          <a:prstGeom prst="rect">
            <a:avLst/>
          </a:prstGeom>
          <a:noFill/>
        </p:spPr>
        <p:txBody>
          <a:bodyPr wrap="square" lIns="36576" rIns="36576" tIns="18288" bIns="18288">
            <a:spAutoFit/>
          </a:bodyPr>
          <a:lstStyle/>
          <a:p>
            <a:pPr>
              <a:spcAft>
                <a:spcPts val="600"/>
              </a:spcAft>
            </a:pPr>
            <a:r>
              <a:rPr sz="2600" b="1">
                <a:solidFill>
                  <a:srgbClr val="1F2937"/>
                </a:solidFill>
                <a:latin typeface="Aptos Serif"/>
              </a:rPr>
              <a:t>Validar</a:t>
            </a:r>
          </a:p>
        </p:txBody>
      </p:sp>
      <p:sp>
        <p:nvSpPr>
          <p:cNvPr id="8" name="TextBox 7"/>
          <p:cNvSpPr txBox="1"/>
          <p:nvPr/>
        </p:nvSpPr>
        <p:spPr>
          <a:xfrm>
            <a:off x="685800" y="2514600"/>
            <a:ext cx="3383280" cy="2011680"/>
          </a:xfrm>
          <a:prstGeom prst="rect">
            <a:avLst/>
          </a:prstGeom>
          <a:noFill/>
        </p:spPr>
        <p:txBody>
          <a:bodyPr wrap="square" lIns="36576" rIns="36576" tIns="18288" bIns="18288">
            <a:spAutoFit/>
          </a:bodyPr>
          <a:lstStyle/>
          <a:p>
            <a:pPr>
              <a:spcAft>
                <a:spcPts val="1200"/>
              </a:spcAft>
            </a:pPr>
            <a:r>
              <a:rPr sz="1900" b="0">
                <a:solidFill>
                  <a:srgbClr val="1F2937"/>
                </a:solidFill>
                <a:latin typeface="Aptos"/>
              </a:rPr>
              <a:t>•  Confirmar los errores con EPM</a:t>
            </a:r>
          </a:p>
          <a:p>
            <a:pPr>
              <a:spcAft>
                <a:spcPts val="1200"/>
              </a:spcAft>
            </a:pPr>
            <a:r>
              <a:rPr sz="1900" b="0">
                <a:solidFill>
                  <a:srgbClr val="1F2937"/>
                </a:solidFill>
                <a:latin typeface="Aptos"/>
              </a:rPr>
              <a:t>•  Documentar las variables</a:t>
            </a:r>
          </a:p>
        </p:txBody>
      </p:sp>
      <p:sp>
        <p:nvSpPr>
          <p:cNvPr id="9" name="Oval 8"/>
          <p:cNvSpPr/>
          <p:nvPr/>
        </p:nvSpPr>
        <p:spPr>
          <a:xfrm>
            <a:off x="4389120" y="1463040"/>
            <a:ext cx="640080" cy="640080"/>
          </a:xfrm>
          <a:prstGeom prst="ellipse">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Aptos"/>
              </a:rPr>
              <a:t>2</a:t>
            </a:r>
          </a:p>
        </p:txBody>
      </p:sp>
      <p:sp>
        <p:nvSpPr>
          <p:cNvPr id="10" name="TextBox 9"/>
          <p:cNvSpPr txBox="1"/>
          <p:nvPr/>
        </p:nvSpPr>
        <p:spPr>
          <a:xfrm>
            <a:off x="5212080" y="1536192"/>
            <a:ext cx="2651760" cy="548640"/>
          </a:xfrm>
          <a:prstGeom prst="rect">
            <a:avLst/>
          </a:prstGeom>
          <a:noFill/>
        </p:spPr>
        <p:txBody>
          <a:bodyPr wrap="square" lIns="36576" rIns="36576" tIns="18288" bIns="18288">
            <a:spAutoFit/>
          </a:bodyPr>
          <a:lstStyle/>
          <a:p>
            <a:pPr>
              <a:spcAft>
                <a:spcPts val="600"/>
              </a:spcAft>
            </a:pPr>
            <a:r>
              <a:rPr sz="2600" b="1">
                <a:solidFill>
                  <a:srgbClr val="1F2937"/>
                </a:solidFill>
                <a:latin typeface="Aptos Serif"/>
              </a:rPr>
              <a:t>Mejorar</a:t>
            </a:r>
          </a:p>
        </p:txBody>
      </p:sp>
      <p:sp>
        <p:nvSpPr>
          <p:cNvPr id="11" name="TextBox 10"/>
          <p:cNvSpPr txBox="1"/>
          <p:nvPr/>
        </p:nvSpPr>
        <p:spPr>
          <a:xfrm>
            <a:off x="4389120" y="2514600"/>
            <a:ext cx="3383280" cy="2011680"/>
          </a:xfrm>
          <a:prstGeom prst="rect">
            <a:avLst/>
          </a:prstGeom>
          <a:noFill/>
        </p:spPr>
        <p:txBody>
          <a:bodyPr wrap="square" lIns="36576" rIns="36576" tIns="18288" bIns="18288">
            <a:spAutoFit/>
          </a:bodyPr>
          <a:lstStyle/>
          <a:p>
            <a:pPr>
              <a:spcAft>
                <a:spcPts val="1200"/>
              </a:spcAft>
            </a:pPr>
            <a:r>
              <a:rPr sz="1900" b="0">
                <a:solidFill>
                  <a:srgbClr val="1F2937"/>
                </a:solidFill>
                <a:latin typeface="Aptos"/>
              </a:rPr>
              <a:t>•  Reducir falsas alarmas</a:t>
            </a:r>
          </a:p>
          <a:p>
            <a:pPr>
              <a:spcAft>
                <a:spcPts val="1200"/>
              </a:spcAft>
            </a:pPr>
            <a:r>
              <a:rPr sz="1900" b="0">
                <a:solidFill>
                  <a:srgbClr val="1F2937"/>
                </a:solidFill>
                <a:latin typeface="Aptos"/>
              </a:rPr>
              <a:t>•  Probar con Superservicios</a:t>
            </a:r>
          </a:p>
        </p:txBody>
      </p:sp>
      <p:sp>
        <p:nvSpPr>
          <p:cNvPr id="12" name="Oval 11"/>
          <p:cNvSpPr/>
          <p:nvPr/>
        </p:nvSpPr>
        <p:spPr>
          <a:xfrm>
            <a:off x="8092440" y="1463040"/>
            <a:ext cx="640080" cy="640080"/>
          </a:xfrm>
          <a:prstGeom prst="ellipse">
            <a:avLst/>
          </a:prstGeom>
          <a:solidFill>
            <a:srgbClr val="6250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a:lstStyle/>
          <a:p>
            <a:pPr algn="ctr"/>
            <a:r>
              <a:rPr sz="2000" b="1">
                <a:solidFill>
                  <a:srgbClr val="FFFFFF"/>
                </a:solidFill>
                <a:latin typeface="Aptos"/>
              </a:rPr>
              <a:t>3</a:t>
            </a:r>
          </a:p>
        </p:txBody>
      </p:sp>
      <p:sp>
        <p:nvSpPr>
          <p:cNvPr id="13" name="TextBox 12"/>
          <p:cNvSpPr txBox="1"/>
          <p:nvPr/>
        </p:nvSpPr>
        <p:spPr>
          <a:xfrm>
            <a:off x="8915400" y="1536192"/>
            <a:ext cx="2651760" cy="548640"/>
          </a:xfrm>
          <a:prstGeom prst="rect">
            <a:avLst/>
          </a:prstGeom>
          <a:noFill/>
        </p:spPr>
        <p:txBody>
          <a:bodyPr wrap="square" lIns="36576" rIns="36576" tIns="18288" bIns="18288">
            <a:spAutoFit/>
          </a:bodyPr>
          <a:lstStyle/>
          <a:p>
            <a:pPr>
              <a:spcAft>
                <a:spcPts val="600"/>
              </a:spcAft>
            </a:pPr>
            <a:r>
              <a:rPr sz="2600" b="1">
                <a:solidFill>
                  <a:srgbClr val="1F2937"/>
                </a:solidFill>
                <a:latin typeface="Aptos Serif"/>
              </a:rPr>
              <a:t>Comparar</a:t>
            </a:r>
          </a:p>
        </p:txBody>
      </p:sp>
      <p:sp>
        <p:nvSpPr>
          <p:cNvPr id="14" name="TextBox 13"/>
          <p:cNvSpPr txBox="1"/>
          <p:nvPr/>
        </p:nvSpPr>
        <p:spPr>
          <a:xfrm>
            <a:off x="8092440" y="2514600"/>
            <a:ext cx="3383280" cy="2011680"/>
          </a:xfrm>
          <a:prstGeom prst="rect">
            <a:avLst/>
          </a:prstGeom>
          <a:noFill/>
        </p:spPr>
        <p:txBody>
          <a:bodyPr wrap="square" lIns="36576" rIns="36576" tIns="18288" bIns="18288">
            <a:spAutoFit/>
          </a:bodyPr>
          <a:lstStyle/>
          <a:p>
            <a:pPr>
              <a:spcAft>
                <a:spcPts val="1200"/>
              </a:spcAft>
            </a:pPr>
            <a:r>
              <a:rPr sz="1900" b="0">
                <a:solidFill>
                  <a:srgbClr val="1F2937"/>
                </a:solidFill>
                <a:latin typeface="Aptos"/>
              </a:rPr>
              <a:t>•  Detección vs. falsas alarmas</a:t>
            </a:r>
          </a:p>
          <a:p>
            <a:pPr>
              <a:spcAft>
                <a:spcPts val="1200"/>
              </a:spcAft>
            </a:pPr>
            <a:r>
              <a:rPr sz="1900" b="0">
                <a:solidFill>
                  <a:srgbClr val="1F2937"/>
                </a:solidFill>
                <a:latin typeface="Aptos"/>
              </a:rPr>
              <a:t>•  Probar otro modelo de ML</a:t>
            </a:r>
          </a:p>
        </p:txBody>
      </p:sp>
      <p:sp>
        <p:nvSpPr>
          <p:cNvPr id="15" name="TextBox 14"/>
          <p:cNvSpPr txBox="1"/>
          <p:nvPr/>
        </p:nvSpPr>
        <p:spPr>
          <a:xfrm>
            <a:off x="685800" y="4206240"/>
            <a:ext cx="10881360" cy="457200"/>
          </a:xfrm>
          <a:prstGeom prst="rect">
            <a:avLst/>
          </a:prstGeom>
          <a:noFill/>
        </p:spPr>
        <p:txBody>
          <a:bodyPr wrap="square" lIns="36576" rIns="36576" tIns="18288" bIns="18288">
            <a:spAutoFit/>
          </a:bodyPr>
          <a:lstStyle/>
          <a:p>
            <a:pPr>
              <a:spcAft>
                <a:spcPts val="600"/>
              </a:spcAft>
            </a:pPr>
            <a:r>
              <a:rPr sz="1900" b="1">
                <a:solidFill>
                  <a:srgbClr val="084B76"/>
                </a:solidFill>
                <a:latin typeface="Aptos"/>
              </a:rPr>
              <a:t>Meta del Hito 3: resultados preliminares comparables entre los tres enfoques.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image.png"/>
          <p:cNvPicPr>
            <a:picLocks noChangeAspect="1"/>
          </p:cNvPicPr>
          <p:nvPr/>
        </p:nvPicPr>
        <p:blipFill>
          <a:blip r:embed="rId2"/>
          <a:stretch>
            <a:fillRect/>
          </a:stretch>
        </p:blipFill>
        <p:spPr>
          <a:xfrm>
            <a:off x="228600" y="18288"/>
            <a:ext cx="2889504" cy="868680"/>
          </a:xfrm>
          <a:prstGeom prst="rect">
            <a:avLst/>
          </a:prstGeom>
        </p:spPr>
      </p:pic>
      <p:sp>
        <p:nvSpPr>
          <p:cNvPr id="3" name="TextBox 2"/>
          <p:cNvSpPr txBox="1"/>
          <p:nvPr/>
        </p:nvSpPr>
        <p:spPr>
          <a:xfrm>
            <a:off x="3337560" y="219456"/>
            <a:ext cx="8412480" cy="640080"/>
          </a:xfrm>
          <a:prstGeom prst="rect">
            <a:avLst/>
          </a:prstGeom>
          <a:noFill/>
        </p:spPr>
        <p:txBody>
          <a:bodyPr wrap="square" lIns="36576" rIns="36576" tIns="18288" bIns="18288">
            <a:spAutoFit/>
          </a:bodyPr>
          <a:lstStyle/>
          <a:p>
            <a:pPr>
              <a:spcAft>
                <a:spcPts val="600"/>
              </a:spcAft>
            </a:pPr>
            <a:r>
              <a:rPr sz="2800" b="1">
                <a:solidFill>
                  <a:srgbClr val="084B76"/>
                </a:solidFill>
                <a:latin typeface="Aptos Serif"/>
              </a:rPr>
              <a:t>Referencias</a:t>
            </a:r>
          </a:p>
        </p:txBody>
      </p:sp>
      <p:sp>
        <p:nvSpPr>
          <p:cNvPr id="4" name="TextBox 3"/>
          <p:cNvSpPr txBox="1"/>
          <p:nvPr/>
        </p:nvSpPr>
        <p:spPr>
          <a:xfrm>
            <a:off x="457200" y="6492240"/>
            <a:ext cx="8229600" cy="228600"/>
          </a:xfrm>
          <a:prstGeom prst="rect">
            <a:avLst/>
          </a:prstGeom>
          <a:noFill/>
        </p:spPr>
        <p:txBody>
          <a:bodyPr wrap="square" lIns="36576" rIns="36576" tIns="18288" bIns="18288">
            <a:spAutoFit/>
          </a:bodyPr>
          <a:lstStyle/>
          <a:p>
            <a:pPr>
              <a:spcAft>
                <a:spcPts val="600"/>
              </a:spcAft>
            </a:pPr>
            <a:r>
              <a:rPr sz="1000" b="0">
                <a:solidFill>
                  <a:srgbClr val="6B7280"/>
                </a:solidFill>
                <a:latin typeface="Aptos"/>
              </a:rPr>
              <a:t>Maestría en Ciencia de Datos · Hito 2: pipeline y modelo</a:t>
            </a:r>
          </a:p>
        </p:txBody>
      </p:sp>
      <p:sp>
        <p:nvSpPr>
          <p:cNvPr id="5" name="TextBox 4"/>
          <p:cNvSpPr txBox="1"/>
          <p:nvPr/>
        </p:nvSpPr>
        <p:spPr>
          <a:xfrm>
            <a:off x="11292840" y="6473952"/>
            <a:ext cx="457200" cy="274320"/>
          </a:xfrm>
          <a:prstGeom prst="rect">
            <a:avLst/>
          </a:prstGeom>
          <a:noFill/>
        </p:spPr>
        <p:txBody>
          <a:bodyPr wrap="square" lIns="36576" rIns="36576" tIns="18288" bIns="18288">
            <a:spAutoFit/>
          </a:bodyPr>
          <a:lstStyle/>
          <a:p>
            <a:pPr>
              <a:spcAft>
                <a:spcPts val="600"/>
              </a:spcAft>
            </a:pPr>
            <a:r>
              <a:rPr sz="1100" b="0">
                <a:solidFill>
                  <a:srgbClr val="6B7280"/>
                </a:solidFill>
                <a:latin typeface="Aptos"/>
              </a:rPr>
              <a:t>17</a:t>
            </a:r>
          </a:p>
        </p:txBody>
      </p:sp>
      <p:sp>
        <p:nvSpPr>
          <p:cNvPr id="6" name="TextBox 5"/>
          <p:cNvSpPr txBox="1"/>
          <p:nvPr/>
        </p:nvSpPr>
        <p:spPr>
          <a:xfrm>
            <a:off x="731520" y="1234440"/>
            <a:ext cx="10789920" cy="5029200"/>
          </a:xfrm>
          <a:prstGeom prst="rect">
            <a:avLst/>
          </a:prstGeom>
          <a:noFill/>
        </p:spPr>
        <p:txBody>
          <a:bodyPr wrap="square" lIns="36576" rIns="36576" tIns="18288" bIns="18288">
            <a:spAutoFit/>
          </a:bodyPr>
          <a:lstStyle/>
          <a:p>
            <a:pPr>
              <a:spcAft>
                <a:spcPts val="800"/>
              </a:spcAft>
            </a:pPr>
            <a:r>
              <a:rPr sz="1400" b="0">
                <a:solidFill>
                  <a:srgbClr val="1F2937"/>
                </a:solidFill>
                <a:latin typeface="Aptos"/>
              </a:rPr>
              <a:t>Ehrlinger, L. y Wöß, W. (2022). A survey of data quality measurement and monitoring tools. Frontiers in Big Data, 5, 850611.</a:t>
            </a:r>
          </a:p>
          <a:p>
            <a:pPr>
              <a:spcAft>
                <a:spcPts val="800"/>
              </a:spcAft>
            </a:pPr>
            <a:r>
              <a:rPr sz="1400" b="0">
                <a:solidFill>
                  <a:srgbClr val="1F2937"/>
                </a:solidFill>
                <a:latin typeface="Aptos"/>
              </a:rPr>
              <a:t>Glauner, P. et al. (2017). The challenge of non-technical loss detection using artificial intelligence: A survey. International Journal of Computational Intelligence Systems, 10(1), 760–775.</a:t>
            </a:r>
          </a:p>
          <a:p>
            <a:pPr>
              <a:spcAft>
                <a:spcPts val="800"/>
              </a:spcAft>
            </a:pPr>
            <a:r>
              <a:rPr sz="1400" b="0">
                <a:solidFill>
                  <a:srgbClr val="1F2937"/>
                </a:solidFill>
                <a:latin typeface="Aptos"/>
              </a:rPr>
              <a:t>Jones-Farmer, L. A., Ezell, J. D. y Hazen, B. T. (2014). Applying control chart methods to enhance data quality. Technometrics, 56(1), 29–41.</a:t>
            </a:r>
          </a:p>
          <a:p>
            <a:pPr>
              <a:spcAft>
                <a:spcPts val="800"/>
              </a:spcAft>
            </a:pPr>
            <a:r>
              <a:rPr sz="1400" b="0">
                <a:solidFill>
                  <a:srgbClr val="1F2937"/>
                </a:solidFill>
                <a:latin typeface="Aptos"/>
              </a:rPr>
              <a:t>Liu, F. T., Ting, K. M. y Zhou, Z.-H. (2008). Isolation forest. Eighth IEEE International Conference on Data Mining, 413–422.</a:t>
            </a:r>
          </a:p>
          <a:p>
            <a:pPr>
              <a:spcAft>
                <a:spcPts val="800"/>
              </a:spcAft>
            </a:pPr>
            <a:r>
              <a:rPr sz="1400" b="0">
                <a:solidFill>
                  <a:srgbClr val="1F2937"/>
                </a:solidFill>
                <a:latin typeface="Aptos"/>
              </a:rPr>
              <a:t>MinTIC (2019). Modelo de uso de calidad de datos (v1). Dirección de Gobierno Digital.</a:t>
            </a:r>
          </a:p>
          <a:p>
            <a:pPr>
              <a:spcAft>
                <a:spcPts val="800"/>
              </a:spcAft>
            </a:pPr>
            <a:r>
              <a:rPr sz="1400" b="0">
                <a:solidFill>
                  <a:srgbClr val="1F2937"/>
                </a:solidFill>
                <a:latin typeface="Aptos"/>
              </a:rPr>
              <a:t>Montgomery, D. C. (2019). Introduction to statistical quality control (8.ª ed.). Wiley.</a:t>
            </a:r>
          </a:p>
          <a:p>
            <a:pPr>
              <a:spcAft>
                <a:spcPts val="800"/>
              </a:spcAft>
            </a:pPr>
            <a:r>
              <a:rPr sz="1400" b="0">
                <a:solidFill>
                  <a:srgbClr val="1F2937"/>
                </a:solidFill>
                <a:latin typeface="Aptos"/>
              </a:rPr>
              <a:t>Schelter, S. et al. (2018). Automating large-scale data quality verification. Proceedings of the VLDB Endowment, 11(12), 1781–1794.</a:t>
            </a:r>
          </a:p>
          <a:p>
            <a:pPr>
              <a:spcAft>
                <a:spcPts val="800"/>
              </a:spcAft>
            </a:pPr>
            <a:r>
              <a:rPr sz="1400" b="0">
                <a:solidFill>
                  <a:srgbClr val="1F2937"/>
                </a:solidFill>
                <a:latin typeface="Aptos"/>
              </a:rPr>
              <a:t>EPM. Histórico de tarifas de energía eléctrica EPM 2016–2021. datos.gov.co (sfcd-b3ey).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