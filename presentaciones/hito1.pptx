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sugerido: 40 segundos. Estamos desarrollando un framework para evaluar calidad de datos del sector energético. Hoy presentamos una primera implementación y sus resultados preliminares. Las cartas complementan las reglas; todavía no hemos validado toda la metodología.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Explicar: un framework es una secuencia organizada de herramientas. El propósito inmediato es probar un flujo reproducible: cargar, revisar, rastrear y monitorear. La pregunta de esta diapositiva es operativa y provisional, no reemplaza la pregunta formal de la tesis.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Tenemos dos archivos. EPM ofrece algunas series mensuales completas y por eso se escogió para el primer ejercicio. Superservicios no se descarta: puede servir para validar reglas en otra fuente. La selección es provisional, no afirmamos que sea la mejor fuente definitiva.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año y mes deben existir para poder ordenar registros. Formato correcto significa que se puede convertir el importe, no que el precio sea correcto. Hay 20 filas involucradas en pares duplicados; al conservar una por par se retiran 10. No confundir filas involucradas con filas adicionales.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preservó el CSV original. La copia usada para analizar excluye una fila sin período y 10 duplicados adicionales. Esta decisión permite construir fechas pero no corrige la fuente. Registro_original conserva el vínculo con la posición original. La clave candidata de categorías y fecha no mostró repeticiones después de retirar duplicados exactos.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selección fue automática entre series candidatas. Restricciones Rm es el Tipo de Dato y Propiedad Epm es la columna que analizamos. No mezclamos categorías. Los 48 meses fueron un filtro práctico, no una norma universal. Debemos justificar el componente y confirmar su unidad antes de convertirlo en variable definitiva.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 de izquierda a derecha. Cada punto representa un valor mensual del mismo componente. Podemos ver aumentos, descensos y períodos con mayor nivel. Esta gráfica no confirma errores. La unidad económica de la columna está pendiente de verificación documental. Después calculamos la diferencia entre un mes y el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36 cambios corresponden a enero 2017-diciembre 2019; 24 a enero 2020-diciembre 2021. Los límites se calculan solo con la referencia y se mantienen fijos en monitoreo. Son decisiones iniciales. El diagnóstico ACF y Ljung-Box no encontró evidencia clara de autocorrelación, pero no demuestra estabilidad ni independencia absoluta. Ya exploramos toda la serie, por lo que no es una validación final independiente.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punto es un cambio mensual, no un precio. La línea verde es el promedio de referencia y las rojas son límites de control. La línea vertical separa referencia y monitoreo. Promedio -0,76, límite inferior -20,34 y superior 18,81. Ningún punto salió de los límites con esta regla. No hemos aplicado reglas adicionales de rachas o tendencias y no podemos afirmar que todos los datos sean correctos.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MR calcula el valor absoluto de la diferencia entre dos cambios consecutivos. Complementa a la carta I. Promedio 7,36 y límite superior 24,05. En referencia hay 35 rangos a partir de 36 cambios. En monitoreo contamos 24 incluyendo el cruce con el final de referencia. Aparece una alerta en julio de 2021; no es un error confirmado.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junio bajó 7,92 y en julio subió 16,90. La diferencia entre esos movimientos es 24,82, que supera por poco 24,05. No sabemos si es una variación real o un dato incorrecto. Revisaremos junio y julio con la fuente; mayo permite reconstruir el movimiento de junio. La alerta pertenece a la transición, no prueba que julio sea culpable.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los avances concretos: reglas ejecutadas, trazabilidad y dos cartas construidas. Pedir orientación sobre pertinencia de fuente y variable, selección de referencia y cartas esperadas. Luego diseñar pruebas con errores conocidos. Un valor alterado puede afectar varios cambios y rangos vecinos; hay que contemplarlo en la evaluación. Machine learning todavía es una comparación futura, no un resultado. Referencias: fuentes datos.gov.co y NIST Individuals Control Charts https://www.itl.nist.gov/div898/handbook/pmc/section3/pmc322.htm. EPM sfcd-b3ey y Superservicios vfjy-6fka.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"/>
            <a:ext cx="2889504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37560" y="210312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84B76"/>
                </a:solidFill>
                <a:latin typeface="Aptos Serif"/>
              </a:defRPr>
            </a:pPr>
            <a:r>
              <a:t>Primer avance del proyecto de 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273"/>
                </a:solidFill>
                <a:latin typeface="Aptos"/>
              </a:defRPr>
            </a:pPr>
            <a:r>
              <a:t>Maestría en Ciencia de Datos · Avance exploratorio · 7 de octubre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627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084B76"/>
                </a:solidFill>
                <a:latin typeface="Aptos Serif"/>
              </a:defRPr>
            </a:pPr>
            <a:r>
              <a:t>Diseño e implementación de un framework automatizado para la evaluación de la calidad de datos en registros administrativos del sector energético en Colombia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63442"/>
                </a:solidFill>
                <a:latin typeface="Aptos"/>
              </a:defRPr>
            </a:pPr>
            <a:r>
              <a:t>Perfilamiento · Reglas de calidad · Cartas estadísticas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526273"/>
                </a:solidFill>
                <a:latin typeface="Aptos"/>
              </a:defRPr>
            </a:pPr>
            <a:r>
              <a:t>Grupo 03</a:t>
            </a:r>
          </a:p>
          <a:p>
            <a:pPr>
              <a:spcAft>
                <a:spcPts val="1200"/>
              </a:spcAft>
              <a:defRPr sz="1900" b="0">
                <a:solidFill>
                  <a:srgbClr val="526273"/>
                </a:solidFill>
                <a:latin typeface="Aptos"/>
              </a:defRPr>
            </a:pPr>
            <a:r>
              <a:t>Director del trabajo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15000"/>
            <a:ext cx="11247120" cy="566928"/>
          </a:xfrm>
          <a:prstGeom prst="rect">
            <a:avLst/>
          </a:prstGeom>
          <a:solidFill>
            <a:srgbClr val="EA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797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84B76"/>
                </a:solidFill>
                <a:latin typeface="Aptos"/>
              </a:defRPr>
            </a:pPr>
            <a:r>
              <a:t>Resultados de la primera exploración en Python y Google Colab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"/>
            <a:ext cx="2889504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37560" y="210312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84B76"/>
                </a:solidFill>
                <a:latin typeface="Aptos Serif"/>
              </a:defRPr>
            </a:pPr>
            <a:r>
              <a:t>Objetivo de este avance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273"/>
                </a:solidFill>
                <a:latin typeface="Aptos"/>
              </a:defRPr>
            </a:pPr>
            <a:r>
              <a:t>Maestría en Ciencia de Datos · Avance exploratorio · 7 de octubre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627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084B76"/>
                </a:solidFill>
                <a:latin typeface="Aptos"/>
              </a:defRPr>
            </a:pPr>
            <a:r>
              <a:t>Construir y probar un primer flujo automatizado para revisar datos.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424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63442"/>
                </a:solidFill>
                <a:latin typeface="Aptos"/>
              </a:defRPr>
            </a:pPr>
            <a:r>
              <a:t>1. Conocer la estructura y los posibles problemas de la fuente.</a:t>
            </a:r>
          </a:p>
          <a:p>
            <a:pPr>
              <a:spcAft>
                <a:spcPts val="1200"/>
              </a:spcAft>
              <a:defRPr sz="2400" b="0">
                <a:solidFill>
                  <a:srgbClr val="263442"/>
                </a:solidFill>
                <a:latin typeface="Aptos"/>
              </a:defRPr>
            </a:pPr>
            <a:r>
              <a:t>2. Ejecutar reglas de completitud, formato y duplicación.</a:t>
            </a:r>
          </a:p>
          <a:p>
            <a:pPr>
              <a:spcAft>
                <a:spcPts val="1200"/>
              </a:spcAft>
              <a:defRPr sz="2400" b="0">
                <a:solidFill>
                  <a:srgbClr val="263442"/>
                </a:solidFill>
                <a:latin typeface="Aptos"/>
              </a:defRPr>
            </a:pPr>
            <a:r>
              <a:t>3. Explorar variaciones mensuales con cartas I y MR.</a:t>
            </a:r>
          </a:p>
          <a:p>
            <a:pPr>
              <a:spcAft>
                <a:spcPts val="1200"/>
              </a:spcAft>
              <a:defRPr sz="2400" b="0">
                <a:solidFill>
                  <a:srgbClr val="263442"/>
                </a:solidFill>
                <a:latin typeface="Aptos"/>
              </a:defRPr>
            </a:pPr>
            <a:r>
              <a:t>4. Documentar hallazgos y definir cómo validarlos.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15000"/>
            <a:ext cx="11247120" cy="566928"/>
          </a:xfrm>
          <a:prstGeom prst="rect">
            <a:avLst/>
          </a:prstGeom>
          <a:solidFill>
            <a:srgbClr val="EA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797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84B76"/>
                </a:solidFill>
                <a:latin typeface="Aptos"/>
              </a:defRPr>
            </a:pPr>
            <a:r>
              <a:t>Pregunta inicial: ¿qué problemas y señales podemos detectar de forma trazable?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"/>
            <a:ext cx="2889504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37560" y="210312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84B76"/>
                </a:solidFill>
                <a:latin typeface="Aptos Serif"/>
              </a:defRPr>
            </a:pPr>
            <a:r>
              <a:t>Fuentes de datos revisadas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273"/>
                </a:solidFill>
                <a:latin typeface="Aptos"/>
              </a:defRPr>
            </a:pPr>
            <a:r>
              <a:t>Maestría en Ciencia de Datos · Avance exploratorio · 7 de octubre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6273"/>
                </a:solidFill>
                <a:latin typeface="Aptos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172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657600"/>
                <a:gridCol w="3291840"/>
              </a:tblGrid>
              <a:tr h="57607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Fuente</a:t>
                      </a:r>
                    </a:p>
                  </a:txBody>
                  <a:tcPr>
                    <a:solidFill>
                      <a:srgbClr val="084B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Copia revisada</a:t>
                      </a:r>
                    </a:p>
                  </a:txBody>
                  <a:tcPr>
                    <a:solidFill>
                      <a:srgbClr val="084B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Uso provisional</a:t>
                      </a:r>
                    </a:p>
                  </a:txBody>
                  <a:tcPr>
                    <a:solidFill>
                      <a:srgbClr val="084B76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Superservicios: subsidios,</a:t>
                      </a:r>
                    </a:p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contribuciones y FOES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5.396 filas · 16 columnas</a:t>
                      </a:r>
                    </a:p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8 períodos disponibles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Segunda fuente para</a:t>
                      </a:r>
                    </a:p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validar reglas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Histórico de tarifas EPM</a:t>
                      </a:r>
                    </a:p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(2016–2021)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3.623 filas · 12 columnas</a:t>
                      </a:r>
                    </a:p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61 meses de cobertura 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Primer ejercicio de</a:t>
                      </a:r>
                    </a:p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series y cartas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93192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63442"/>
                </a:solidFill>
                <a:latin typeface="Aptos"/>
              </a:defRPr>
            </a:pPr>
            <a:r>
              <a:t>EPM: diciembre de 2016 a diciembre de 2021.</a:t>
            </a:r>
          </a:p>
          <a:p>
            <a:pPr>
              <a:spcAft>
                <a:spcPts val="1200"/>
              </a:spcAft>
              <a:defRPr sz="2300" b="0">
                <a:solidFill>
                  <a:srgbClr val="263442"/>
                </a:solidFill>
                <a:latin typeface="Aptos"/>
              </a:defRPr>
            </a:pPr>
            <a:r>
              <a:t>No todas las categorías contienen los 61 meses.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15000"/>
            <a:ext cx="11247120" cy="566928"/>
          </a:xfrm>
          <a:prstGeom prst="rect">
            <a:avLst/>
          </a:prstGeom>
          <a:solidFill>
            <a:srgbClr val="EA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797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84B76"/>
                </a:solidFill>
                <a:latin typeface="Aptos"/>
              </a:defRPr>
            </a:pPr>
            <a:r>
              <a:t>Pendiente: justificar la fuente y confirmar el significado de sus variables.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"/>
            <a:ext cx="2889504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37560" y="210312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84B76"/>
                </a:solidFill>
                <a:latin typeface="Aptos Serif"/>
              </a:defRPr>
            </a:pPr>
            <a:r>
              <a:t>Reglas de calidad: resultados iniciales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273"/>
                </a:solidFill>
                <a:latin typeface="Aptos"/>
              </a:defRPr>
            </a:pPr>
            <a:r>
              <a:t>Maestría en Ciencia de Datos · Avance exploratorio · 7 de octubre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6273"/>
                </a:solidFill>
                <a:latin typeface="Aptos"/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577840"/>
              </a:tblGrid>
              <a:tr h="57607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Control aplicado</a:t>
                      </a:r>
                    </a:p>
                  </a:txBody>
                  <a:tcPr>
                    <a:solidFill>
                      <a:srgbClr val="084B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Resultado en EPM</a:t>
                      </a:r>
                    </a:p>
                  </a:txBody>
                  <a:tcPr>
                    <a:solidFill>
                      <a:srgbClr val="084B76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Presencia de año y mes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1 fila sin período válido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Año entero y mes reconocido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0 fallos entre los valores presentes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Formato de cinco columnas monetarias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0 fallos entre los valores presentes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Duplicados exactos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20 filas involucradas; 10 adicionales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590288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63442"/>
                </a:solidFill>
                <a:latin typeface="Aptos"/>
              </a:defRPr>
            </a:pPr>
            <a:r>
              <a:t>“Rango de Consumo” tiene 2.143 ausentes: debemos confirmar cuándo aplica.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15000"/>
            <a:ext cx="11247120" cy="566928"/>
          </a:xfrm>
          <a:prstGeom prst="rect">
            <a:avLst/>
          </a:prstGeom>
          <a:solidFill>
            <a:srgbClr val="EA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797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84B76"/>
                </a:solidFill>
                <a:latin typeface="Aptos"/>
              </a:defRPr>
            </a:pPr>
            <a:r>
              <a:t>Un importe con formato correcto puede seguir teniendo un valor incorrecto.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"/>
            <a:ext cx="2889504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37560" y="210312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84B76"/>
                </a:solidFill>
                <a:latin typeface="Aptos Serif"/>
              </a:defRPr>
            </a:pPr>
            <a:r>
              <a:t>Preparación y trazabilidad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273"/>
                </a:solidFill>
                <a:latin typeface="Aptos"/>
              </a:defRPr>
            </a:pPr>
            <a:r>
              <a:t>Maestría en Ciencia de Datos · Avance exploratorio · 7 de octubre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6273"/>
                </a:solidFill>
                <a:latin typeface="Aptos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  <a:gridCol w="2834640"/>
              </a:tblGrid>
              <a:tr h="57607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Paso</a:t>
                      </a:r>
                    </a:p>
                  </a:txBody>
                  <a:tcPr>
                    <a:solidFill>
                      <a:srgbClr val="084B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Filas</a:t>
                      </a:r>
                    </a:p>
                  </a:txBody>
                  <a:tcPr>
                    <a:solidFill>
                      <a:srgbClr val="084B76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Archivo original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3.623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Repeticiones exactas adicionales retiradas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−10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Registro sin período excluido provisionalmente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−1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Copia preparada para el análisis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3.612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434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63442"/>
                </a:solidFill>
                <a:latin typeface="Aptos"/>
              </a:defRPr>
            </a:pPr>
            <a:r>
              <a:t>Conservamos “registro_original” para localizar cada hallazgo.</a:t>
            </a:r>
          </a:p>
          <a:p>
            <a:pPr>
              <a:spcAft>
                <a:spcPts val="1200"/>
              </a:spcAft>
              <a:defRPr sz="2300" b="0">
                <a:solidFill>
                  <a:srgbClr val="263442"/>
                </a:solidFill>
                <a:latin typeface="Aptos"/>
              </a:defRPr>
            </a:pPr>
            <a:r>
              <a:t>La limpieza se realiza sobre una copia.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15000"/>
            <a:ext cx="11247120" cy="566928"/>
          </a:xfrm>
          <a:prstGeom prst="rect">
            <a:avLst/>
          </a:prstGeom>
          <a:solidFill>
            <a:srgbClr val="EA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797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84B76"/>
                </a:solidFill>
                <a:latin typeface="Aptos"/>
              </a:defRPr>
            </a:pPr>
            <a:r>
              <a:t>Cada exclusión debe quedar documentada y poder revisarse.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"/>
            <a:ext cx="2889504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37560" y="210312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84B76"/>
                </a:solidFill>
                <a:latin typeface="Aptos Serif"/>
              </a:defRPr>
            </a:pPr>
            <a:r>
              <a:t>Serie seleccionada para explorar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273"/>
                </a:solidFill>
                <a:latin typeface="Aptos"/>
              </a:defRPr>
            </a:pPr>
            <a:r>
              <a:t>Maestría en Ciencia de Datos · Avance exploratorio · 7 de octubre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627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4B76"/>
                </a:solidFill>
                <a:latin typeface="Aptos"/>
              </a:defRPr>
            </a:pPr>
            <a:r>
              <a:t>Componente: Restricciones: Rm</a:t>
            </a:r>
          </a:p>
          <a:p>
            <a:pPr>
              <a:spcAft>
                <a:spcPts val="1200"/>
              </a:spcAft>
              <a:defRPr sz="2500" b="1">
                <a:solidFill>
                  <a:srgbClr val="084B76"/>
                </a:solidFill>
                <a:latin typeface="Aptos"/>
              </a:defRPr>
            </a:pPr>
            <a:r>
              <a:t>Columna analizada: Propiedad Epm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63442"/>
                </a:solidFill>
                <a:latin typeface="Aptos"/>
              </a:defRPr>
            </a:pPr>
            <a:r>
              <a:t>Categorías: Monomia · Costo Unitario · Nivel I.</a:t>
            </a:r>
          </a:p>
          <a:p>
            <a:pPr>
              <a:spcAft>
                <a:spcPts val="1200"/>
              </a:spcAft>
              <a:defRPr sz="2300" b="0">
                <a:solidFill>
                  <a:srgbClr val="263442"/>
                </a:solidFill>
                <a:latin typeface="Aptos"/>
              </a:defRPr>
            </a:pPr>
            <a:r>
              <a:t>Rango de Consumo ausente en esta combinación.</a:t>
            </a:r>
          </a:p>
          <a:p>
            <a:pPr>
              <a:spcAft>
                <a:spcPts val="1200"/>
              </a:spcAft>
              <a:defRPr sz="2300" b="0">
                <a:solidFill>
                  <a:srgbClr val="263442"/>
                </a:solidFill>
                <a:latin typeface="Aptos"/>
              </a:defRPr>
            </a:pPr>
            <a:r>
              <a:t>61 valores mensuales → 60 cambios mensuales.</a:t>
            </a:r>
          </a:p>
          <a:p>
            <a:pPr>
              <a:spcAft>
                <a:spcPts val="1200"/>
              </a:spcAft>
              <a:defRPr sz="2300" b="0">
                <a:solidFill>
                  <a:srgbClr val="263442"/>
                </a:solidFill>
                <a:latin typeface="Aptos"/>
              </a:defRPr>
            </a:pPr>
            <a:r>
              <a:t>Candidatas: al menos 48 meses, sin huecos y con variación.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15000"/>
            <a:ext cx="11247120" cy="566928"/>
          </a:xfrm>
          <a:prstGeom prst="rect">
            <a:avLst/>
          </a:prstGeom>
          <a:solidFill>
            <a:srgbClr val="EA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797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84B76"/>
                </a:solidFill>
                <a:latin typeface="Aptos"/>
              </a:defRPr>
            </a:pPr>
            <a:r>
              <a:t>Selección exploratoria: todavía debemos justificar su relevancia para la tesis.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"/>
            <a:ext cx="2889504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37560" y="210312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84B76"/>
                </a:solidFill>
                <a:latin typeface="Aptos Serif"/>
              </a:defRPr>
            </a:pPr>
            <a:r>
              <a:t>Primera gráfica: evolución mensual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273"/>
                </a:solidFill>
                <a:latin typeface="Aptos"/>
              </a:defRPr>
            </a:pPr>
            <a:r>
              <a:t>Maestría en Ciencia de Datos · Avance exploratorio · 7 de octubre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6273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6" name="Picture 5" descr="valo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417320"/>
            <a:ext cx="10881360" cy="32831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892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84B76"/>
                </a:solidFill>
                <a:latin typeface="Aptos"/>
              </a:defRPr>
            </a:pPr>
            <a:r>
              <a:t>Cambio mensual = valor actual − valor del mes anterior.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15000"/>
            <a:ext cx="11247120" cy="566928"/>
          </a:xfrm>
          <a:prstGeom prst="rect">
            <a:avLst/>
          </a:prstGeom>
          <a:solidFill>
            <a:srgbClr val="EA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797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84B76"/>
                </a:solidFill>
                <a:latin typeface="Aptos"/>
              </a:defRPr>
            </a:pPr>
            <a:r>
              <a:t>Un cambio negativo indica una bajada; no implica un importe negativo.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"/>
            <a:ext cx="2889504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37560" y="210312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84B76"/>
                </a:solidFill>
                <a:latin typeface="Aptos Serif"/>
              </a:defRPr>
            </a:pPr>
            <a:r>
              <a:t>Referencia, monitoreo y 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273"/>
                </a:solidFill>
                <a:latin typeface="Aptos"/>
              </a:defRPr>
            </a:pPr>
            <a:r>
              <a:t>Maestría en Ciencia de Datos · Avance exploratorio · 7 de octubre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6273"/>
                </a:solidFill>
                <a:latin typeface="Aptos"/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172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931920"/>
                <a:gridCol w="3474720"/>
              </a:tblGrid>
              <a:tr h="57607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Bloque</a:t>
                      </a:r>
                    </a:p>
                  </a:txBody>
                  <a:tcPr>
                    <a:solidFill>
                      <a:srgbClr val="084B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Período</a:t>
                      </a:r>
                    </a:p>
                  </a:txBody>
                  <a:tcPr>
                    <a:solidFill>
                      <a:srgbClr val="084B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Uso</a:t>
                      </a:r>
                    </a:p>
                  </a:txBody>
                  <a:tcPr>
                    <a:solidFill>
                      <a:srgbClr val="084B76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Referencia: 36 cambios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Enero 2017–diciembre 2019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Calcular límites iniciales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Monitoreo: 24 cambios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Enero 2020–diciembre 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Revisar con límites fijos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657600"/>
            <a:ext cx="10607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63442"/>
                </a:solidFill>
                <a:latin typeface="Aptos"/>
              </a:defRPr>
            </a:pPr>
            <a:r>
              <a:t>ACF y Ljung–Box: sin evidencia clara de autocorrelación</a:t>
            </a:r>
          </a:p>
          <a:p>
            <a:pPr>
              <a:spcAft>
                <a:spcPts val="1200"/>
              </a:spcAft>
              <a:defRPr sz="2200" b="0">
                <a:solidFill>
                  <a:srgbClr val="263442"/>
                </a:solidFill>
                <a:latin typeface="Aptos"/>
              </a:defRPr>
            </a:pPr>
            <a:r>
              <a:t>en los rezagos revisados (valores p: 0,481 y 0,549).</a:t>
            </a:r>
          </a:p>
          <a:p>
            <a:pPr>
              <a:spcAft>
                <a:spcPts val="1200"/>
              </a:spcAft>
              <a:defRPr sz="2200" b="0">
                <a:solidFill>
                  <a:srgbClr val="263442"/>
                </a:solidFill>
                <a:latin typeface="Aptos"/>
              </a:defRPr>
            </a:pPr>
            <a:r>
              <a:t>Pendiente: validar estabilidad y pertinencia de la referencia.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15000"/>
            <a:ext cx="11247120" cy="566928"/>
          </a:xfrm>
          <a:prstGeom prst="rect">
            <a:avLst/>
          </a:prstGeom>
          <a:solidFill>
            <a:srgbClr val="EA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797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84B76"/>
                </a:solidFill>
                <a:latin typeface="Aptos"/>
              </a:defRPr>
            </a:pPr>
            <a:r>
              <a:t>36 y 24 son una división provisional, no una regla obligatoria.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"/>
            <a:ext cx="2889504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37560" y="210312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84B76"/>
                </a:solidFill>
                <a:latin typeface="Aptos Serif"/>
              </a:defRPr>
            </a:pPr>
            <a:r>
              <a:t>Carta I: cambios individuales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273"/>
                </a:solidFill>
                <a:latin typeface="Aptos"/>
              </a:defRPr>
            </a:pPr>
            <a:r>
              <a:t>Maestría en Ciencia de Datos · Avance exploratorio · 7 de octubre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6273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6" name="Picture 5" descr="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71600"/>
            <a:ext cx="10881360" cy="32831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864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84B76"/>
                </a:solidFill>
                <a:latin typeface="Aptos"/>
              </a:defRPr>
            </a:pPr>
            <a:r>
              <a:t>Límites: −20,34 y 18,81 · 0 alertas en referencia y monitoreo.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15000"/>
            <a:ext cx="11247120" cy="566928"/>
          </a:xfrm>
          <a:prstGeom prst="rect">
            <a:avLst/>
          </a:prstGeom>
          <a:solidFill>
            <a:srgbClr val="EA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797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84B76"/>
                </a:solidFill>
                <a:latin typeface="Aptos"/>
              </a:defRPr>
            </a:pPr>
            <a:r>
              <a:t>No hubo puntos fuera de límites; esto no confirma que todos los datos sean correctos.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"/>
            <a:ext cx="2889504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37560" y="210312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84B76"/>
                </a:solidFill>
                <a:latin typeface="Aptos Serif"/>
              </a:defRPr>
            </a:pPr>
            <a:r>
              <a:t>Carta MR: transiciones entre cambios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273"/>
                </a:solidFill>
                <a:latin typeface="Aptos"/>
              </a:defRPr>
            </a:pPr>
            <a:r>
              <a:t>Maestría en Ciencia de Datos · Avance exploratorio · 7 de octubre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6273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6" name="Picture 5" descr="M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371600"/>
            <a:ext cx="10881360" cy="32831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864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84B76"/>
                </a:solidFill>
                <a:latin typeface="Aptos"/>
              </a:defRPr>
            </a:pPr>
            <a:r>
              <a:t>Promedio MR: 7,36 · Límite superior: 24,05 · 1 alerta en monitoreo.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15000"/>
            <a:ext cx="11247120" cy="566928"/>
          </a:xfrm>
          <a:prstGeom prst="rect">
            <a:avLst/>
          </a:prstGeom>
          <a:solidFill>
            <a:srgbClr val="EA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797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84B76"/>
                </a:solidFill>
                <a:latin typeface="Aptos"/>
              </a:defRPr>
            </a:pPr>
            <a:r>
              <a:t>Julio de 2021 requiere revisión con la publicación original de EPM.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"/>
            <a:ext cx="2889504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37560" y="210312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84B76"/>
                </a:solidFill>
                <a:latin typeface="Aptos Serif"/>
              </a:defRPr>
            </a:pPr>
            <a:r>
              <a:t>Cómo interpretar la alerta de julio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273"/>
                </a:solidFill>
                <a:latin typeface="Aptos"/>
              </a:defRPr>
            </a:pPr>
            <a:r>
              <a:t>Maestría en Ciencia de Datos · Avance exploratorio · 7 de octubre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6273"/>
                </a:solidFill>
                <a:latin typeface="Aptos"/>
              </a:defRPr>
            </a:pPr>
            <a: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3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749039"/>
              </a:tblGrid>
              <a:tr h="576072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Mes de 2021</a:t>
                      </a:r>
                    </a:p>
                  </a:txBody>
                  <a:tcPr>
                    <a:solidFill>
                      <a:srgbClr val="084B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Valor publicado</a:t>
                      </a:r>
                    </a:p>
                  </a:txBody>
                  <a:tcPr>
                    <a:solidFill>
                      <a:srgbClr val="084B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Cambio mensual</a:t>
                      </a:r>
                    </a:p>
                  </a:txBody>
                  <a:tcPr>
                    <a:solidFill>
                      <a:srgbClr val="084B76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19,42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−2,24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Junio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11,50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−7,92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Julio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28,40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63442"/>
                          </a:solidFill>
                          <a:latin typeface="Aptos"/>
                        </a:defRPr>
                      </a:pPr>
                      <a:r>
                        <a:t>+16,90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06908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4B76"/>
                </a:solidFill>
                <a:latin typeface="Aptos"/>
              </a:defRPr>
            </a:pPr>
            <a:r>
              <a:t>MR de julio = |16,90 − (−7,92)| = 24,82 &gt; 24,05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63442"/>
                </a:solidFill>
                <a:latin typeface="Aptos"/>
              </a:defRPr>
            </a:pPr>
            <a:r>
              <a:t>Estado: señal estadística pendiente de validación.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15000"/>
            <a:ext cx="11247120" cy="566928"/>
          </a:xfrm>
          <a:prstGeom prst="rect">
            <a:avLst/>
          </a:prstGeom>
          <a:solidFill>
            <a:srgbClr val="EA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797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84B76"/>
                </a:solidFill>
                <a:latin typeface="Aptos"/>
              </a:defRPr>
            </a:pPr>
            <a:r>
              <a:t>Una alerta estadística es un caso para revisar, no un error confirmado.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"/>
            <a:ext cx="2889504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37560" y="210312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84B76"/>
                </a:solidFill>
                <a:latin typeface="Aptos Serif"/>
              </a:defRPr>
            </a:pPr>
            <a:r>
              <a:t>Próximos pasos y orientación del profesor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273"/>
                </a:solidFill>
                <a:latin typeface="Aptos"/>
              </a:defRPr>
            </a:pPr>
            <a:r>
              <a:t>Maestría en Ciencia de Datos · Avance exploratorio · 7 de octubre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2627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63442"/>
                </a:solidFill>
                <a:latin typeface="Aptos"/>
              </a:defRPr>
            </a:pPr>
            <a:r>
              <a:t>1. Documentar variables, unidades y reglas de negocio.</a:t>
            </a:r>
          </a:p>
          <a:p>
            <a:pPr>
              <a:spcAft>
                <a:spcPts val="1200"/>
              </a:spcAft>
              <a:defRPr sz="2300" b="0">
                <a:solidFill>
                  <a:srgbClr val="263442"/>
                </a:solidFill>
                <a:latin typeface="Aptos"/>
              </a:defRPr>
            </a:pPr>
            <a:r>
              <a:t>2. Validar el caso de julio y la referencia estadística.</a:t>
            </a:r>
          </a:p>
          <a:p>
            <a:pPr>
              <a:spcAft>
                <a:spcPts val="1200"/>
              </a:spcAft>
              <a:defRPr sz="2300" b="0">
                <a:solidFill>
                  <a:srgbClr val="263442"/>
                </a:solidFill>
                <a:latin typeface="Aptos"/>
              </a:defRPr>
            </a:pPr>
            <a:r>
              <a:t>3. Probar otras series y errores conocidos en copias.</a:t>
            </a:r>
          </a:p>
          <a:p>
            <a:pPr>
              <a:spcAft>
                <a:spcPts val="1200"/>
              </a:spcAft>
              <a:defRPr sz="2300" b="0">
                <a:solidFill>
                  <a:srgbClr val="263442"/>
                </a:solidFill>
                <a:latin typeface="Aptos"/>
              </a:defRPr>
            </a:pPr>
            <a:r>
              <a:t>4. Comparar cartas con un método de machine learning.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84B76"/>
                </a:solidFill>
                <a:latin typeface="Aptos"/>
              </a:defRPr>
            </a:pPr>
            <a:r>
              <a:t>Para discutir: ¿son pertinentes esta fuente y variable?</a:t>
            </a:r>
          </a:p>
          <a:p>
            <a:pPr>
              <a:spcAft>
                <a:spcPts val="1200"/>
              </a:spcAft>
              <a:defRPr sz="2300" b="1">
                <a:solidFill>
                  <a:srgbClr val="084B76"/>
                </a:solidFill>
                <a:latin typeface="Aptos"/>
              </a:defRPr>
            </a:pPr>
            <a:r>
              <a:t>¿Las cartas I–MR responden al enfoque esperado?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15000"/>
            <a:ext cx="11247120" cy="566928"/>
          </a:xfrm>
          <a:prstGeom prst="rect">
            <a:avLst/>
          </a:prstGeom>
          <a:solidFill>
            <a:srgbClr val="EA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797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84B76"/>
                </a:solidFill>
                <a:latin typeface="Aptos"/>
              </a:defRPr>
            </a:pPr>
            <a:r>
              <a:t>Avance logrado: flujo reproducible + hallazgos trazables + plan de validación.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